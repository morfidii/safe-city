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10.svg" ContentType="image/svg+xml"/>
  <Override PartName="/ppt/media/image12.svg" ContentType="image/svg+xml"/>
  <Override PartName="/ppt/media/image2.svg" ContentType="image/svg+xml"/>
  <Override PartName="/ppt/media/image27.svg" ContentType="image/svg+xml"/>
  <Override PartName="/ppt/media/image31.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60" r:id="rId6"/>
    <p:sldId id="267" r:id="rId7"/>
    <p:sldId id="261" r:id="rId8"/>
    <p:sldId id="259" r:id="rId9"/>
    <p:sldId id="262" r:id="rId10"/>
    <p:sldId id="263" r:id="rId11"/>
    <p:sldId id="264" r:id="rId12"/>
    <p:sldId id="265" r:id="rId13"/>
  </p:sldIdLst>
  <p:sldSz cx="18288000" cy="10287000"/>
  <p:notesSz cx="6858000" cy="9144000"/>
  <p:embeddedFontLst>
    <p:embeddedFont>
      <p:font typeface="Calibri" panose="020F050202020403020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3" userDrawn="1">
          <p15:clr>
            <a:srgbClr val="A4A3A4"/>
          </p15:clr>
        </p15:guide>
        <p15:guide id="2" pos="2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213"/>
        <p:guide pos="284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4" Type="http://schemas.openxmlformats.org/officeDocument/2006/relationships/slideLayout" Target="../slideLayouts/slideLayout7.xml"/><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8.svg"/><Relationship Id="rId7" Type="http://schemas.openxmlformats.org/officeDocument/2006/relationships/image" Target="../media/image17.png"/><Relationship Id="rId6" Type="http://schemas.openxmlformats.org/officeDocument/2006/relationships/image" Target="../media/image6.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2.svg"/><Relationship Id="rId13" Type="http://schemas.openxmlformats.org/officeDocument/2006/relationships/slideLayout" Target="../slideLayouts/slideLayout7.xml"/><Relationship Id="rId12" Type="http://schemas.openxmlformats.org/officeDocument/2006/relationships/image" Target="../media/image20.png"/><Relationship Id="rId11" Type="http://schemas.openxmlformats.org/officeDocument/2006/relationships/image" Target="../media/image12.svg"/><Relationship Id="rId10" Type="http://schemas.openxmlformats.org/officeDocument/2006/relationships/image" Target="../media/image19.png"/><Relationship Id="rId1" Type="http://schemas.openxmlformats.org/officeDocument/2006/relationships/image" Target="../media/image14.png"/></Relationships>
</file>

<file path=ppt/slides/_rels/slide3.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8.svg"/><Relationship Id="rId7" Type="http://schemas.openxmlformats.org/officeDocument/2006/relationships/image" Target="../media/image17.png"/><Relationship Id="rId6" Type="http://schemas.openxmlformats.org/officeDocument/2006/relationships/image" Target="../media/image4.svg"/><Relationship Id="rId5" Type="http://schemas.openxmlformats.org/officeDocument/2006/relationships/image" Target="../media/image15.png"/><Relationship Id="rId4" Type="http://schemas.openxmlformats.org/officeDocument/2006/relationships/image" Target="../media/image6.svg"/><Relationship Id="rId3" Type="http://schemas.openxmlformats.org/officeDocument/2006/relationships/image" Target="../media/image16.png"/><Relationship Id="rId2" Type="http://schemas.openxmlformats.org/officeDocument/2006/relationships/image" Target="../media/image2.svg"/><Relationship Id="rId11" Type="http://schemas.openxmlformats.org/officeDocument/2006/relationships/slideLayout" Target="../slideLayouts/slideLayout7.xml"/><Relationship Id="rId10" Type="http://schemas.openxmlformats.org/officeDocument/2006/relationships/image" Target="../media/image12.svg"/><Relationship Id="rId1" Type="http://schemas.openxmlformats.org/officeDocument/2006/relationships/image" Target="../media/image14.png"/></Relationships>
</file>

<file path=ppt/slides/_rels/slide4.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15.png"/><Relationship Id="rId7" Type="http://schemas.openxmlformats.org/officeDocument/2006/relationships/image" Target="../media/image8.svg"/><Relationship Id="rId6" Type="http://schemas.openxmlformats.org/officeDocument/2006/relationships/image" Target="../media/image17.png"/><Relationship Id="rId5" Type="http://schemas.openxmlformats.org/officeDocument/2006/relationships/image" Target="../media/image6.svg"/><Relationship Id="rId4" Type="http://schemas.openxmlformats.org/officeDocument/2006/relationships/image" Target="../media/image16.png"/><Relationship Id="rId3" Type="http://schemas.openxmlformats.org/officeDocument/2006/relationships/image" Target="../media/image2.svg"/><Relationship Id="rId2" Type="http://schemas.openxmlformats.org/officeDocument/2006/relationships/image" Target="../media/image14.png"/><Relationship Id="rId12" Type="http://schemas.openxmlformats.org/officeDocument/2006/relationships/slideLayout" Target="../slideLayouts/slideLayout7.xml"/><Relationship Id="rId11" Type="http://schemas.openxmlformats.org/officeDocument/2006/relationships/hyperlink" Target="https://spotcrime.com" TargetMode="External"/><Relationship Id="rId10" Type="http://schemas.openxmlformats.org/officeDocument/2006/relationships/image" Target="../media/image22.jpeg"/><Relationship Id="rId1" Type="http://schemas.openxmlformats.org/officeDocument/2006/relationships/image" Target="../media/image21.jpeg"/></Relationships>
</file>

<file path=ppt/slides/_rels/slide5.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15.png"/><Relationship Id="rId7" Type="http://schemas.openxmlformats.org/officeDocument/2006/relationships/image" Target="../media/image8.svg"/><Relationship Id="rId6" Type="http://schemas.openxmlformats.org/officeDocument/2006/relationships/image" Target="../media/image17.png"/><Relationship Id="rId5" Type="http://schemas.openxmlformats.org/officeDocument/2006/relationships/image" Target="../media/image6.svg"/><Relationship Id="rId4" Type="http://schemas.openxmlformats.org/officeDocument/2006/relationships/image" Target="../media/image16.png"/><Relationship Id="rId3" Type="http://schemas.openxmlformats.org/officeDocument/2006/relationships/image" Target="../media/image2.svg"/><Relationship Id="rId2" Type="http://schemas.openxmlformats.org/officeDocument/2006/relationships/image" Target="../media/image14.png"/><Relationship Id="rId12" Type="http://schemas.openxmlformats.org/officeDocument/2006/relationships/slideLayout" Target="../slideLayouts/slideLayout7.xml"/><Relationship Id="rId11" Type="http://schemas.openxmlformats.org/officeDocument/2006/relationships/image" Target="../media/image24.jpeg"/><Relationship Id="rId10" Type="http://schemas.openxmlformats.org/officeDocument/2006/relationships/hyperlink" Target="https://citizen.com" TargetMode="External"/><Relationship Id="rId1" Type="http://schemas.openxmlformats.org/officeDocument/2006/relationships/image" Target="../media/image23.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crimemapping.com/map" TargetMode="External"/><Relationship Id="rId2" Type="http://schemas.openxmlformats.org/officeDocument/2006/relationships/image" Target="../media/image2.sv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16.png"/><Relationship Id="rId2" Type="http://schemas.openxmlformats.org/officeDocument/2006/relationships/image" Target="../media/image2.sv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9" Type="http://schemas.openxmlformats.org/officeDocument/2006/relationships/image" Target="../media/image25.GIF"/><Relationship Id="rId8" Type="http://schemas.openxmlformats.org/officeDocument/2006/relationships/image" Target="../media/image12.svg"/><Relationship Id="rId7" Type="http://schemas.openxmlformats.org/officeDocument/2006/relationships/image" Target="../media/image19.png"/><Relationship Id="rId6" Type="http://schemas.openxmlformats.org/officeDocument/2006/relationships/image" Target="../media/image4.svg"/><Relationship Id="rId5" Type="http://schemas.openxmlformats.org/officeDocument/2006/relationships/image" Target="../media/image15.png"/><Relationship Id="rId4" Type="http://schemas.openxmlformats.org/officeDocument/2006/relationships/image" Target="../media/image8.svg"/><Relationship Id="rId3" Type="http://schemas.openxmlformats.org/officeDocument/2006/relationships/image" Target="../media/image17.png"/><Relationship Id="rId2" Type="http://schemas.openxmlformats.org/officeDocument/2006/relationships/image" Target="../media/image2.svg"/><Relationship Id="rId10" Type="http://schemas.openxmlformats.org/officeDocument/2006/relationships/slideLayout" Target="../slideLayouts/slideLayout7.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4.svg"/><Relationship Id="rId5" Type="http://schemas.openxmlformats.org/officeDocument/2006/relationships/image" Target="../media/image15.png"/><Relationship Id="rId4" Type="http://schemas.openxmlformats.org/officeDocument/2006/relationships/image" Target="../media/image8.svg"/><Relationship Id="rId3" Type="http://schemas.openxmlformats.org/officeDocument/2006/relationships/image" Target="../media/image17.png"/><Relationship Id="rId2" Type="http://schemas.openxmlformats.org/officeDocument/2006/relationships/image" Target="../media/image2.sv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9" Type="http://schemas.openxmlformats.org/officeDocument/2006/relationships/image" Target="../media/image29.GIF"/><Relationship Id="rId8" Type="http://schemas.openxmlformats.org/officeDocument/2006/relationships/image" Target="../media/image6.svg"/><Relationship Id="rId7" Type="http://schemas.openxmlformats.org/officeDocument/2006/relationships/image" Target="../media/image16.png"/><Relationship Id="rId6" Type="http://schemas.openxmlformats.org/officeDocument/2006/relationships/image" Target="../media/image27.svg"/><Relationship Id="rId5" Type="http://schemas.openxmlformats.org/officeDocument/2006/relationships/image" Target="../media/image28.png"/><Relationship Id="rId4" Type="http://schemas.openxmlformats.org/officeDocument/2006/relationships/image" Target="../media/image8.svg"/><Relationship Id="rId3" Type="http://schemas.openxmlformats.org/officeDocument/2006/relationships/image" Target="../media/image17.png"/><Relationship Id="rId2" Type="http://schemas.openxmlformats.org/officeDocument/2006/relationships/image" Target="../media/image2.svg"/><Relationship Id="rId10" Type="http://schemas.openxmlformats.org/officeDocument/2006/relationships/slideLayout" Target="../slideLayouts/slideLayout7.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4.svg"/><Relationship Id="rId7" Type="http://schemas.openxmlformats.org/officeDocument/2006/relationships/image" Target="../media/image15.png"/><Relationship Id="rId6" Type="http://schemas.openxmlformats.org/officeDocument/2006/relationships/image" Target="../media/image6.svg"/><Relationship Id="rId5" Type="http://schemas.openxmlformats.org/officeDocument/2006/relationships/image" Target="../media/image16.png"/><Relationship Id="rId4" Type="http://schemas.openxmlformats.org/officeDocument/2006/relationships/image" Target="../media/image8.svg"/><Relationship Id="rId3" Type="http://schemas.openxmlformats.org/officeDocument/2006/relationships/image" Target="../media/image17.png"/><Relationship Id="rId2" Type="http://schemas.openxmlformats.org/officeDocument/2006/relationships/image" Target="../media/image2.svg"/><Relationship Id="rId13" Type="http://schemas.openxmlformats.org/officeDocument/2006/relationships/slideLayout" Target="../slideLayouts/slideLayout7.xml"/><Relationship Id="rId12" Type="http://schemas.openxmlformats.org/officeDocument/2006/relationships/image" Target="../media/image27.svg"/><Relationship Id="rId11" Type="http://schemas.openxmlformats.org/officeDocument/2006/relationships/image" Target="../media/image28.png"/><Relationship Id="rId10" Type="http://schemas.openxmlformats.org/officeDocument/2006/relationships/image" Target="../media/image31.sv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19050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3746850" y="7086600"/>
            <a:ext cx="5558051" cy="4114800"/>
          </a:xfrm>
          <a:custGeom>
            <a:avLst/>
            <a:gdLst/>
            <a:ahLst/>
            <a:cxnLst/>
            <a:rect l="l" t="t" r="r" b="b"/>
            <a:pathLst>
              <a:path w="5558051" h="4114800">
                <a:moveTo>
                  <a:pt x="0" y="0"/>
                </a:moveTo>
                <a:lnTo>
                  <a:pt x="5558051" y="0"/>
                </a:lnTo>
                <a:lnTo>
                  <a:pt x="555805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0" y="6172200"/>
            <a:ext cx="4880610" cy="4114800"/>
          </a:xfrm>
          <a:custGeom>
            <a:avLst/>
            <a:gdLst/>
            <a:ahLst/>
            <a:cxnLst/>
            <a:rect l="l" t="t" r="r" b="b"/>
            <a:pathLst>
              <a:path w="4880610" h="4114800">
                <a:moveTo>
                  <a:pt x="0" y="0"/>
                </a:moveTo>
                <a:lnTo>
                  <a:pt x="4880610" y="0"/>
                </a:lnTo>
                <a:lnTo>
                  <a:pt x="488061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480275" y="8589923"/>
            <a:ext cx="5558051" cy="4114800"/>
          </a:xfrm>
          <a:custGeom>
            <a:avLst/>
            <a:gdLst/>
            <a:ahLst/>
            <a:cxnLst/>
            <a:rect l="l" t="t" r="r" b="b"/>
            <a:pathLst>
              <a:path w="5558051" h="4114800">
                <a:moveTo>
                  <a:pt x="0" y="0"/>
                </a:moveTo>
                <a:lnTo>
                  <a:pt x="5558050" y="0"/>
                </a:lnTo>
                <a:lnTo>
                  <a:pt x="555805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6" name="Group 6"/>
          <p:cNvGrpSpPr/>
          <p:nvPr/>
        </p:nvGrpSpPr>
        <p:grpSpPr>
          <a:xfrm rot="-5400000">
            <a:off x="-336015" y="-901753"/>
            <a:ext cx="3749134" cy="1803506"/>
            <a:chOff x="0" y="0"/>
            <a:chExt cx="592941" cy="285216"/>
          </a:xfrm>
        </p:grpSpPr>
        <p:sp>
          <p:nvSpPr>
            <p:cNvPr id="7" name="Freeform 7"/>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8" name="TextBox 8"/>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9" name="Freeform 9"/>
          <p:cNvSpPr/>
          <p:nvPr/>
        </p:nvSpPr>
        <p:spPr>
          <a:xfrm flipH="1">
            <a:off x="14846910" y="-662306"/>
            <a:ext cx="3450615" cy="4114800"/>
          </a:xfrm>
          <a:custGeom>
            <a:avLst/>
            <a:gdLst/>
            <a:ahLst/>
            <a:cxnLst/>
            <a:rect l="l" t="t" r="r" b="b"/>
            <a:pathLst>
              <a:path w="3450615" h="4114800">
                <a:moveTo>
                  <a:pt x="3450615" y="0"/>
                </a:moveTo>
                <a:lnTo>
                  <a:pt x="0" y="0"/>
                </a:lnTo>
                <a:lnTo>
                  <a:pt x="0" y="4114800"/>
                </a:lnTo>
                <a:lnTo>
                  <a:pt x="3450615" y="4114800"/>
                </a:lnTo>
                <a:lnTo>
                  <a:pt x="3450615"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16572217" y="-182833"/>
            <a:ext cx="1524309" cy="2567134"/>
          </a:xfrm>
          <a:custGeom>
            <a:avLst/>
            <a:gdLst/>
            <a:ahLst/>
            <a:cxnLst/>
            <a:rect l="l" t="t" r="r" b="b"/>
            <a:pathLst>
              <a:path w="1524309" h="2567134">
                <a:moveTo>
                  <a:pt x="0" y="0"/>
                </a:moveTo>
                <a:lnTo>
                  <a:pt x="1524310" y="0"/>
                </a:lnTo>
                <a:lnTo>
                  <a:pt x="1524310" y="2567134"/>
                </a:lnTo>
                <a:lnTo>
                  <a:pt x="0" y="256713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1" name="Freeform 11"/>
          <p:cNvSpPr/>
          <p:nvPr/>
        </p:nvSpPr>
        <p:spPr>
          <a:xfrm>
            <a:off x="7971391" y="495304"/>
            <a:ext cx="2345219" cy="2097505"/>
          </a:xfrm>
          <a:custGeom>
            <a:avLst/>
            <a:gdLst/>
            <a:ahLst/>
            <a:cxnLst/>
            <a:rect l="l" t="t" r="r" b="b"/>
            <a:pathLst>
              <a:path w="2345219" h="2097505">
                <a:moveTo>
                  <a:pt x="0" y="0"/>
                </a:moveTo>
                <a:lnTo>
                  <a:pt x="2345218" y="0"/>
                </a:lnTo>
                <a:lnTo>
                  <a:pt x="2345218" y="2097505"/>
                </a:lnTo>
                <a:lnTo>
                  <a:pt x="0" y="2097505"/>
                </a:lnTo>
                <a:lnTo>
                  <a:pt x="0" y="0"/>
                </a:lnTo>
                <a:close/>
              </a:path>
            </a:pathLst>
          </a:custGeom>
          <a:blipFill>
            <a:blip r:embed="rId13"/>
            <a:stretch>
              <a:fillRect/>
            </a:stretch>
          </a:blipFill>
        </p:spPr>
      </p:sp>
      <p:sp>
        <p:nvSpPr>
          <p:cNvPr id="12" name="TextBox 12"/>
          <p:cNvSpPr txBox="1"/>
          <p:nvPr/>
        </p:nvSpPr>
        <p:spPr>
          <a:xfrm>
            <a:off x="1290828" y="-171450"/>
            <a:ext cx="495449" cy="1566544"/>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1</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3" name="TextBox 13"/>
          <p:cNvSpPr txBox="1"/>
          <p:nvPr/>
        </p:nvSpPr>
        <p:spPr>
          <a:xfrm>
            <a:off x="2050415" y="3697605"/>
            <a:ext cx="14186535" cy="1941195"/>
          </a:xfrm>
          <a:prstGeom prst="rect">
            <a:avLst/>
          </a:prstGeom>
        </p:spPr>
        <p:txBody>
          <a:bodyPr lIns="0" tIns="0" rIns="0" bIns="0" rtlCol="0" anchor="t">
            <a:noAutofit/>
          </a:bodyPr>
          <a:lstStyle/>
          <a:p>
            <a:pPr algn="ctr">
              <a:lnSpc>
                <a:spcPts val="10210"/>
              </a:lnSpc>
            </a:pPr>
            <a:r>
              <a:rPr lang="en-US" sz="48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SAFE CITY: CRIME LIFE IDENTIFICATOR</a:t>
            </a:r>
            <a:endParaRPr lang="en-US" sz="48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4" name="TextBox 14"/>
          <p:cNvSpPr txBox="1"/>
          <p:nvPr/>
        </p:nvSpPr>
        <p:spPr>
          <a:xfrm>
            <a:off x="3300803" y="6664960"/>
            <a:ext cx="11686393" cy="1508125"/>
          </a:xfrm>
          <a:prstGeom prst="rect">
            <a:avLst/>
          </a:prstGeom>
        </p:spPr>
        <p:txBody>
          <a:bodyPr lIns="0" tIns="0" rIns="0" bIns="0" rtlCol="0" anchor="t">
            <a:spAutoFit/>
          </a:bodyPr>
          <a:lstStyle/>
          <a:p>
            <a:pPr algn="ctr">
              <a:lnSpc>
                <a:spcPts val="5880"/>
              </a:lnSpc>
            </a:pPr>
            <a:r>
              <a:rPr lang="en-US" sz="4200">
                <a:solidFill>
                  <a:srgbClr val="000000"/>
                </a:solidFill>
                <a:latin typeface="Rasputin"/>
                <a:ea typeface="Rasputin"/>
                <a:cs typeface="Rasputin"/>
                <a:sym typeface="Rasputin"/>
              </a:rPr>
              <a:t>By Zholdasbay Karina</a:t>
            </a:r>
            <a:endParaRPr lang="en-US" sz="4200">
              <a:solidFill>
                <a:srgbClr val="000000"/>
              </a:solidFill>
              <a:latin typeface="Rasputin"/>
              <a:ea typeface="Rasputin"/>
              <a:cs typeface="Rasputin"/>
              <a:sym typeface="Rasputin"/>
            </a:endParaRPr>
          </a:p>
          <a:p>
            <a:pPr algn="ctr">
              <a:lnSpc>
                <a:spcPts val="5880"/>
              </a:lnSpc>
            </a:pPr>
            <a:r>
              <a:rPr lang="en-US" sz="4200">
                <a:solidFill>
                  <a:srgbClr val="000000"/>
                </a:solidFill>
                <a:latin typeface="Rasputin"/>
                <a:ea typeface="Rasputin"/>
                <a:cs typeface="Rasputin"/>
                <a:sym typeface="Rasputin"/>
              </a:rPr>
              <a:t>Khairulla Amir</a:t>
            </a:r>
            <a:endParaRPr lang="en-US" sz="4200">
              <a:solidFill>
                <a:srgbClr val="000000"/>
              </a:solidFill>
              <a:latin typeface="Rasputin"/>
              <a:ea typeface="Rasputin"/>
              <a:cs typeface="Rasputin"/>
              <a:sym typeface="Rasputin"/>
            </a:endParaRPr>
          </a:p>
        </p:txBody>
      </p:sp>
      <p:sp>
        <p:nvSpPr>
          <p:cNvPr id="15" name="TextBox 15"/>
          <p:cNvSpPr txBox="1"/>
          <p:nvPr/>
        </p:nvSpPr>
        <p:spPr>
          <a:xfrm>
            <a:off x="6280100" y="5617210"/>
            <a:ext cx="5727799" cy="933450"/>
          </a:xfrm>
          <a:prstGeom prst="rect">
            <a:avLst/>
          </a:prstGeom>
        </p:spPr>
        <p:txBody>
          <a:bodyPr lIns="0" tIns="0" rIns="0" bIns="0" rtlCol="0" anchor="t">
            <a:spAutoFit/>
          </a:bodyPr>
          <a:lstStyle/>
          <a:p>
            <a:pPr algn="ctr">
              <a:lnSpc>
                <a:spcPts val="7280"/>
              </a:lnSpc>
            </a:pPr>
            <a:r>
              <a:rPr lang="en-US" sz="4800">
                <a:solidFill>
                  <a:srgbClr val="000000"/>
                </a:solidFill>
                <a:latin typeface="Rasputin"/>
                <a:ea typeface="Rasputin"/>
                <a:cs typeface="Rasputin"/>
                <a:sym typeface="Rasputin"/>
              </a:rPr>
              <a:t>IT1CCO - 2402IS</a:t>
            </a:r>
            <a:endParaRPr lang="en-US" sz="4800">
              <a:solidFill>
                <a:srgbClr val="000000"/>
              </a:solidFill>
              <a:latin typeface="Rasputin"/>
              <a:ea typeface="Rasputin"/>
              <a:cs typeface="Rasputin"/>
              <a:sym typeface="Rasputin"/>
            </a:endParaRPr>
          </a:p>
        </p:txBody>
      </p:sp>
      <p:sp>
        <p:nvSpPr>
          <p:cNvPr id="16" name="TextBox 16"/>
          <p:cNvSpPr txBox="1"/>
          <p:nvPr/>
        </p:nvSpPr>
        <p:spPr>
          <a:xfrm>
            <a:off x="3300803" y="8368308"/>
            <a:ext cx="11686393" cy="721994"/>
          </a:xfrm>
          <a:prstGeom prst="rect">
            <a:avLst/>
          </a:prstGeom>
        </p:spPr>
        <p:txBody>
          <a:bodyPr lIns="0" tIns="0" rIns="0" bIns="0" rtlCol="0" anchor="t">
            <a:spAutoFit/>
          </a:bodyPr>
          <a:lstStyle/>
          <a:p>
            <a:pPr algn="ctr">
              <a:lnSpc>
                <a:spcPts val="5880"/>
              </a:lnSpc>
            </a:pPr>
            <a:r>
              <a:rPr lang="en-US" sz="4200">
                <a:solidFill>
                  <a:srgbClr val="000000"/>
                </a:solidFill>
                <a:latin typeface="Rasputin"/>
                <a:ea typeface="Rasputin"/>
                <a:cs typeface="Rasputin"/>
                <a:sym typeface="Rasputin"/>
              </a:rPr>
              <a:t>Teacher: Sydyqbek Zhanibek Qanatuly</a:t>
            </a:r>
            <a:endParaRPr lang="en-US" sz="4200">
              <a:solidFill>
                <a:srgbClr val="000000"/>
              </a:solidFill>
              <a:latin typeface="Rasputin"/>
              <a:ea typeface="Rasputin"/>
              <a:cs typeface="Rasputin"/>
              <a:sym typeface="Rasputin"/>
            </a:endParaRPr>
          </a:p>
        </p:txBody>
      </p:sp>
      <p:sp>
        <p:nvSpPr>
          <p:cNvPr id="17" name="TextBox 17"/>
          <p:cNvSpPr txBox="1"/>
          <p:nvPr/>
        </p:nvSpPr>
        <p:spPr>
          <a:xfrm>
            <a:off x="5058023" y="2716634"/>
            <a:ext cx="8171954" cy="929641"/>
          </a:xfrm>
          <a:prstGeom prst="rect">
            <a:avLst/>
          </a:prstGeom>
        </p:spPr>
        <p:txBody>
          <a:bodyPr lIns="0" tIns="0" rIns="0" bIns="0" rtlCol="0" anchor="t">
            <a:spAutoFit/>
          </a:bodyPr>
          <a:lstStyle/>
          <a:p>
            <a:pPr algn="ctr">
              <a:lnSpc>
                <a:spcPts val="7560"/>
              </a:lnSpc>
            </a:pPr>
            <a:r>
              <a:rPr lang="en-US" sz="5400">
                <a:solidFill>
                  <a:srgbClr val="000000"/>
                </a:solidFill>
                <a:latin typeface="Rasputin"/>
                <a:ea typeface="Rasputin"/>
                <a:cs typeface="Rasputin"/>
                <a:sym typeface="Rasputin"/>
              </a:rPr>
              <a:t>Full stack development</a:t>
            </a:r>
            <a:endParaRPr lang="en-US" sz="5400">
              <a:solidFill>
                <a:srgbClr val="000000"/>
              </a:solidFill>
              <a:latin typeface="Rasputin"/>
              <a:ea typeface="Rasputin"/>
              <a:cs typeface="Rasputin"/>
              <a:sym typeface="Rasputi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sp>
        <p:nvSpPr>
          <p:cNvPr id="3" name="Freeform 3"/>
          <p:cNvSpPr/>
          <p:nvPr/>
        </p:nvSpPr>
        <p:spPr>
          <a:xfrm rot="-1348302">
            <a:off x="13287741" y="4775523"/>
            <a:ext cx="8116426" cy="6008846"/>
          </a:xfrm>
          <a:custGeom>
            <a:avLst/>
            <a:gdLst/>
            <a:ahLst/>
            <a:cxnLst/>
            <a:rect l="l" t="t" r="r" b="b"/>
            <a:pathLst>
              <a:path w="8116426" h="6008846">
                <a:moveTo>
                  <a:pt x="0" y="0"/>
                </a:moveTo>
                <a:lnTo>
                  <a:pt x="8116426" y="0"/>
                </a:lnTo>
                <a:lnTo>
                  <a:pt x="8116426" y="6008846"/>
                </a:lnTo>
                <a:lnTo>
                  <a:pt x="0" y="6008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412288" y="4529140"/>
            <a:ext cx="9697150" cy="8175583"/>
          </a:xfrm>
          <a:custGeom>
            <a:avLst/>
            <a:gdLst/>
            <a:ahLst/>
            <a:cxnLst/>
            <a:rect l="l" t="t" r="r" b="b"/>
            <a:pathLst>
              <a:path w="9697150" h="8175583">
                <a:moveTo>
                  <a:pt x="0" y="0"/>
                </a:moveTo>
                <a:lnTo>
                  <a:pt x="9697150" y="0"/>
                </a:lnTo>
                <a:lnTo>
                  <a:pt x="9697150" y="8175583"/>
                </a:lnTo>
                <a:lnTo>
                  <a:pt x="0" y="81755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1853961">
            <a:off x="15518500" y="7086600"/>
            <a:ext cx="5558051" cy="4114800"/>
          </a:xfrm>
          <a:custGeom>
            <a:avLst/>
            <a:gdLst/>
            <a:ahLst/>
            <a:cxnLst/>
            <a:rect l="l" t="t" r="r" b="b"/>
            <a:pathLst>
              <a:path w="5558051" h="4114800">
                <a:moveTo>
                  <a:pt x="0" y="0"/>
                </a:moveTo>
                <a:lnTo>
                  <a:pt x="5558050" y="0"/>
                </a:lnTo>
                <a:lnTo>
                  <a:pt x="555805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6" name="Group 6"/>
          <p:cNvGrpSpPr/>
          <p:nvPr/>
        </p:nvGrpSpPr>
        <p:grpSpPr>
          <a:xfrm rot="-5400000">
            <a:off x="-336015" y="-901753"/>
            <a:ext cx="3749134" cy="1803506"/>
            <a:chOff x="0" y="0"/>
            <a:chExt cx="592941" cy="285216"/>
          </a:xfrm>
        </p:grpSpPr>
        <p:sp>
          <p:nvSpPr>
            <p:cNvPr id="7" name="Freeform 7"/>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8" name="TextBox 8"/>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9" name="Freeform 9"/>
          <p:cNvSpPr/>
          <p:nvPr/>
        </p:nvSpPr>
        <p:spPr>
          <a:xfrm>
            <a:off x="12820799" y="2980180"/>
            <a:ext cx="5680947" cy="2627438"/>
          </a:xfrm>
          <a:custGeom>
            <a:avLst/>
            <a:gdLst/>
            <a:ahLst/>
            <a:cxnLst/>
            <a:rect l="l" t="t" r="r" b="b"/>
            <a:pathLst>
              <a:path w="5680947" h="2627438">
                <a:moveTo>
                  <a:pt x="0" y="0"/>
                </a:moveTo>
                <a:lnTo>
                  <a:pt x="5680947" y="0"/>
                </a:lnTo>
                <a:lnTo>
                  <a:pt x="5680947" y="2627438"/>
                </a:lnTo>
                <a:lnTo>
                  <a:pt x="0" y="2627438"/>
                </a:lnTo>
                <a:lnTo>
                  <a:pt x="0" y="0"/>
                </a:lnTo>
                <a:close/>
              </a:path>
            </a:pathLst>
          </a:custGeom>
          <a:blipFill>
            <a:blip r:embed="rId9"/>
            <a:stretch>
              <a:fillRect/>
            </a:stretch>
          </a:blipFill>
        </p:spPr>
      </p:sp>
      <p:sp>
        <p:nvSpPr>
          <p:cNvPr id="10" name="Freeform 10"/>
          <p:cNvSpPr/>
          <p:nvPr/>
        </p:nvSpPr>
        <p:spPr>
          <a:xfrm>
            <a:off x="15850989" y="697547"/>
            <a:ext cx="1816913" cy="3059916"/>
          </a:xfrm>
          <a:custGeom>
            <a:avLst/>
            <a:gdLst/>
            <a:ahLst/>
            <a:cxnLst/>
            <a:rect l="l" t="t" r="r" b="b"/>
            <a:pathLst>
              <a:path w="1816913" h="3059916">
                <a:moveTo>
                  <a:pt x="0" y="0"/>
                </a:moveTo>
                <a:lnTo>
                  <a:pt x="1816913" y="0"/>
                </a:lnTo>
                <a:lnTo>
                  <a:pt x="1816913" y="3059916"/>
                </a:lnTo>
                <a:lnTo>
                  <a:pt x="0" y="30599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12158178" y="6086788"/>
            <a:ext cx="2893753" cy="2893753"/>
          </a:xfrm>
          <a:custGeom>
            <a:avLst/>
            <a:gdLst/>
            <a:ahLst/>
            <a:cxnLst/>
            <a:rect l="l" t="t" r="r" b="b"/>
            <a:pathLst>
              <a:path w="2893753" h="2893753">
                <a:moveTo>
                  <a:pt x="0" y="0"/>
                </a:moveTo>
                <a:lnTo>
                  <a:pt x="2893753" y="0"/>
                </a:lnTo>
                <a:lnTo>
                  <a:pt x="2893753" y="2893753"/>
                </a:lnTo>
                <a:lnTo>
                  <a:pt x="0" y="2893753"/>
                </a:lnTo>
                <a:lnTo>
                  <a:pt x="0" y="0"/>
                </a:lnTo>
                <a:close/>
              </a:path>
            </a:pathLst>
          </a:custGeom>
          <a:blipFill>
            <a:blip r:embed="rId12"/>
            <a:stretch>
              <a:fillRect/>
            </a:stretch>
          </a:blipFill>
        </p:spPr>
      </p:sp>
      <p:sp>
        <p:nvSpPr>
          <p:cNvPr id="12" name="TextBox 12"/>
          <p:cNvSpPr txBox="1"/>
          <p:nvPr/>
        </p:nvSpPr>
        <p:spPr>
          <a:xfrm>
            <a:off x="1223061" y="-171450"/>
            <a:ext cx="630982" cy="1566544"/>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2</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3" name="TextBox 13"/>
          <p:cNvSpPr txBox="1"/>
          <p:nvPr/>
        </p:nvSpPr>
        <p:spPr>
          <a:xfrm>
            <a:off x="4283621" y="866775"/>
            <a:ext cx="8537178" cy="2941320"/>
          </a:xfrm>
          <a:prstGeom prst="rect">
            <a:avLst/>
          </a:prstGeom>
        </p:spPr>
        <p:txBody>
          <a:bodyPr lIns="0" tIns="0" rIns="0" bIns="0" rtlCol="0" anchor="t">
            <a:spAutoFit/>
          </a:bodyPr>
          <a:lstStyle/>
          <a:p>
            <a:pPr algn="ctr">
              <a:lnSpc>
                <a:spcPts val="11470"/>
              </a:lnSpc>
            </a:pPr>
            <a:r>
              <a:rPr lang="en-US" sz="7200">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PROJECT FIELD AND PROBLEM</a:t>
            </a:r>
            <a:endParaRPr lang="en-US" sz="7200">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4" name="TextBox 14"/>
          <p:cNvSpPr txBox="1"/>
          <p:nvPr/>
        </p:nvSpPr>
        <p:spPr>
          <a:xfrm>
            <a:off x="2179954" y="4176826"/>
            <a:ext cx="9565340" cy="3450590"/>
          </a:xfrm>
          <a:prstGeom prst="rect">
            <a:avLst/>
          </a:prstGeom>
        </p:spPr>
        <p:txBody>
          <a:bodyPr lIns="0" tIns="0" rIns="0" bIns="0" rtlCol="0" anchor="t">
            <a:spAutoFit/>
          </a:bodyPr>
          <a:lstStyle/>
          <a:p>
            <a:pPr algn="just">
              <a:lnSpc>
                <a:spcPts val="4485"/>
              </a:lnSpc>
            </a:pPr>
            <a:r>
              <a:rPr lang="en-US" sz="3205" b="1">
                <a:solidFill>
                  <a:srgbClr val="000000"/>
                </a:solidFill>
                <a:latin typeface="Rasputin"/>
                <a:ea typeface="Rasputin"/>
                <a:cs typeface="Rasputin"/>
                <a:sym typeface="Rasputin"/>
              </a:rPr>
              <a:t>Field</a:t>
            </a:r>
            <a:r>
              <a:rPr lang="en-US" sz="3205">
                <a:solidFill>
                  <a:srgbClr val="000000"/>
                </a:solidFill>
                <a:latin typeface="Rasputin"/>
                <a:ea typeface="Rasputin"/>
                <a:cs typeface="Rasputin"/>
                <a:sym typeface="Rasputin"/>
              </a:rPr>
              <a:t>: </a:t>
            </a:r>
            <a:r>
              <a:rPr lang="en-US" altLang="en-US" sz="3205">
                <a:solidFill>
                  <a:srgbClr val="000000"/>
                </a:solidFill>
                <a:latin typeface="Rasputin"/>
                <a:ea typeface="Rasputin"/>
                <a:cs typeface="Rasputin"/>
                <a:sym typeface="Rasputin"/>
              </a:rPr>
              <a:t>Public Safety and Digital Technologies</a:t>
            </a:r>
            <a:endParaRPr lang="en-US" altLang="en-US" sz="3205">
              <a:solidFill>
                <a:srgbClr val="000000"/>
              </a:solidFill>
              <a:latin typeface="Rasputin"/>
              <a:ea typeface="Rasputin"/>
              <a:cs typeface="Rasputin"/>
              <a:sym typeface="Rasputin"/>
            </a:endParaRPr>
          </a:p>
          <a:p>
            <a:pPr algn="just">
              <a:lnSpc>
                <a:spcPts val="4485"/>
              </a:lnSpc>
            </a:pPr>
            <a:r>
              <a:rPr lang="en-US" sz="3205" b="1">
                <a:solidFill>
                  <a:srgbClr val="000000"/>
                </a:solidFill>
                <a:latin typeface="Rasputin"/>
                <a:ea typeface="Rasputin"/>
                <a:cs typeface="Rasputin"/>
                <a:sym typeface="Rasputin"/>
              </a:rPr>
              <a:t>Problem</a:t>
            </a:r>
            <a:r>
              <a:rPr lang="en-US" sz="3205">
                <a:solidFill>
                  <a:srgbClr val="000000"/>
                </a:solidFill>
                <a:latin typeface="Rasputin"/>
                <a:ea typeface="Rasputin"/>
                <a:cs typeface="Rasputin"/>
                <a:sym typeface="Rasputin"/>
              </a:rPr>
              <a:t>: </a:t>
            </a:r>
            <a:r>
              <a:rPr lang="en-US" altLang="en-US" sz="3205">
                <a:solidFill>
                  <a:srgbClr val="000000"/>
                </a:solidFill>
                <a:latin typeface="Rasputin"/>
                <a:ea typeface="Rasputin"/>
                <a:cs typeface="Rasputin"/>
                <a:sym typeface="Rasputin"/>
              </a:rPr>
              <a:t>People lack access to real-time information about crime risks in different areas of the city and a simple way to report incidents and quickly request emergency assistance.</a:t>
            </a:r>
            <a:endParaRPr lang="en-US" altLang="en-US" sz="3205">
              <a:solidFill>
                <a:srgbClr val="000000"/>
              </a:solidFill>
              <a:latin typeface="Rasputin"/>
              <a:ea typeface="Rasputin"/>
              <a:cs typeface="Rasputin"/>
              <a:sym typeface="Rasputi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flipV="1">
            <a:off x="10153377" y="-1113784"/>
            <a:ext cx="9697150" cy="8175583"/>
          </a:xfrm>
          <a:custGeom>
            <a:avLst/>
            <a:gdLst/>
            <a:ahLst/>
            <a:cxnLst/>
            <a:rect l="l" t="t" r="r" b="b"/>
            <a:pathLst>
              <a:path w="9697150" h="8175583">
                <a:moveTo>
                  <a:pt x="0" y="8175583"/>
                </a:moveTo>
                <a:lnTo>
                  <a:pt x="9697150" y="8175583"/>
                </a:lnTo>
                <a:lnTo>
                  <a:pt x="9697150" y="0"/>
                </a:lnTo>
                <a:lnTo>
                  <a:pt x="0" y="0"/>
                </a:lnTo>
                <a:lnTo>
                  <a:pt x="0" y="8175583"/>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5400000">
            <a:off x="-336015" y="-901753"/>
            <a:ext cx="3749134" cy="1803506"/>
            <a:chOff x="0" y="0"/>
            <a:chExt cx="592941" cy="285216"/>
          </a:xfrm>
        </p:grpSpPr>
        <p:sp>
          <p:nvSpPr>
            <p:cNvPr id="5" name="Freeform 5"/>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6" name="TextBox 6"/>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7" name="TextBox 7"/>
          <p:cNvSpPr txBox="1"/>
          <p:nvPr/>
        </p:nvSpPr>
        <p:spPr>
          <a:xfrm>
            <a:off x="1233008" y="-171450"/>
            <a:ext cx="611088" cy="1566544"/>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3</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8" name="TextBox 8"/>
          <p:cNvSpPr txBox="1"/>
          <p:nvPr/>
        </p:nvSpPr>
        <p:spPr>
          <a:xfrm>
            <a:off x="1854200" y="3524885"/>
            <a:ext cx="13494385" cy="2613025"/>
          </a:xfrm>
          <a:prstGeom prst="rect">
            <a:avLst/>
          </a:prstGeom>
        </p:spPr>
        <p:txBody>
          <a:bodyPr wrap="square" lIns="0" tIns="0" rIns="0" bIns="0" rtlCol="0" anchor="t">
            <a:spAutoFit/>
          </a:bodyPr>
          <a:lstStyle/>
          <a:p>
            <a:pPr algn="just">
              <a:lnSpc>
                <a:spcPts val="5095"/>
              </a:lnSpc>
            </a:pPr>
            <a:r>
              <a:rPr lang="en-US" altLang="en-US" sz="3640">
                <a:solidFill>
                  <a:srgbClr val="000000"/>
                </a:solidFill>
                <a:latin typeface="Rasputin"/>
                <a:ea typeface="Rasputin"/>
                <a:cs typeface="Rasputin"/>
                <a:sym typeface="Rasputin"/>
              </a:rPr>
              <a:t>The main goal is to develop a digital public safety platform that enables users to assess the safety level of different areas, choose safer routes, report incidents, and quickly contact emergency services.</a:t>
            </a:r>
            <a:endParaRPr lang="en-US" altLang="en-US" sz="3640">
              <a:solidFill>
                <a:srgbClr val="000000"/>
              </a:solidFill>
              <a:latin typeface="Rasputin"/>
              <a:ea typeface="Rasputin"/>
              <a:cs typeface="Rasputin"/>
              <a:sym typeface="Rasputin"/>
            </a:endParaRPr>
          </a:p>
        </p:txBody>
      </p:sp>
      <p:sp>
        <p:nvSpPr>
          <p:cNvPr id="9" name="TextBox 9"/>
          <p:cNvSpPr txBox="1"/>
          <p:nvPr/>
        </p:nvSpPr>
        <p:spPr>
          <a:xfrm>
            <a:off x="4877058" y="1444228"/>
            <a:ext cx="8537178" cy="1470660"/>
          </a:xfrm>
          <a:prstGeom prst="rect">
            <a:avLst/>
          </a:prstGeom>
        </p:spPr>
        <p:txBody>
          <a:bodyPr lIns="0" tIns="0" rIns="0" bIns="0" rtlCol="0" anchor="t">
            <a:spAutoFit/>
          </a:bodyPr>
          <a:lstStyle/>
          <a:p>
            <a:pPr marL="0" lvl="0" indent="0" algn="ctr">
              <a:lnSpc>
                <a:spcPts val="11470"/>
              </a:lnSpc>
              <a:spcBef>
                <a:spcPct val="0"/>
              </a:spcBef>
            </a:pPr>
            <a:r>
              <a:rPr lang="en-US" sz="720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PROJECT GOAL</a:t>
            </a:r>
            <a:endParaRPr lang="en-US" sz="720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0" name="Freeform 10"/>
          <p:cNvSpPr/>
          <p:nvPr/>
        </p:nvSpPr>
        <p:spPr>
          <a:xfrm rot="2124482">
            <a:off x="-2424411" y="8290288"/>
            <a:ext cx="8116426" cy="6008846"/>
          </a:xfrm>
          <a:custGeom>
            <a:avLst/>
            <a:gdLst/>
            <a:ahLst/>
            <a:cxnLst/>
            <a:rect l="l" t="t" r="r" b="b"/>
            <a:pathLst>
              <a:path w="8116426" h="6008846">
                <a:moveTo>
                  <a:pt x="0" y="0"/>
                </a:moveTo>
                <a:lnTo>
                  <a:pt x="8116426" y="0"/>
                </a:lnTo>
                <a:lnTo>
                  <a:pt x="8116426" y="6008846"/>
                </a:lnTo>
                <a:lnTo>
                  <a:pt x="0" y="60088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Freeform 12"/>
          <p:cNvSpPr/>
          <p:nvPr/>
        </p:nvSpPr>
        <p:spPr>
          <a:xfrm rot="1867643">
            <a:off x="-1240473" y="9113486"/>
            <a:ext cx="5558051" cy="4114800"/>
          </a:xfrm>
          <a:custGeom>
            <a:avLst/>
            <a:gdLst/>
            <a:ahLst/>
            <a:cxnLst/>
            <a:rect l="l" t="t" r="r" b="b"/>
            <a:pathLst>
              <a:path w="5558051" h="4114800">
                <a:moveTo>
                  <a:pt x="0" y="0"/>
                </a:moveTo>
                <a:lnTo>
                  <a:pt x="5558051" y="0"/>
                </a:lnTo>
                <a:lnTo>
                  <a:pt x="555805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a:off x="16003389" y="7556556"/>
            <a:ext cx="1255911" cy="2115117"/>
          </a:xfrm>
          <a:custGeom>
            <a:avLst/>
            <a:gdLst/>
            <a:ahLst/>
            <a:cxnLst/>
            <a:rect l="l" t="t" r="r" b="b"/>
            <a:pathLst>
              <a:path w="1255911" h="2115117">
                <a:moveTo>
                  <a:pt x="0" y="0"/>
                </a:moveTo>
                <a:lnTo>
                  <a:pt x="1255911" y="0"/>
                </a:lnTo>
                <a:lnTo>
                  <a:pt x="1255911" y="2115116"/>
                </a:lnTo>
                <a:lnTo>
                  <a:pt x="0" y="21151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p:nvPr/>
        </p:nvPicPr>
        <p:blipFill>
          <a:blip r:embed="rId1"/>
          <a:stretch>
            <a:fillRect/>
          </a:stretch>
        </p:blipFill>
        <p:spPr>
          <a:xfrm>
            <a:off x="13487400" y="1257300"/>
            <a:ext cx="2323465" cy="2051685"/>
          </a:xfrm>
          <a:prstGeom prst="rect">
            <a:avLst/>
          </a:prstGeom>
        </p:spPr>
      </p:pic>
      <p:sp>
        <p:nvSpPr>
          <p:cNvPr id="2" name="Freeform 2"/>
          <p:cNvSpPr/>
          <p:nvPr/>
        </p:nvSpPr>
        <p:spPr>
          <a:xfrm>
            <a:off x="-685800" y="3810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2">
              <a:alphaModFix amt="5000"/>
              <a:extLst>
                <a:ext uri="{96DAC541-7B7A-43D3-8B79-37D633B846F1}">
                  <asvg:svgBlip xmlns:asvg="http://schemas.microsoft.com/office/drawing/2016/SVG/main" r:embed="rId3"/>
                </a:ext>
              </a:extLst>
            </a:blip>
            <a:stretch>
              <a:fillRect/>
            </a:stretch>
          </a:blipFill>
        </p:spPr>
        <p:txBody>
          <a:bodyPr/>
          <a:p>
            <a:r>
              <a:rPr lang="en-US"/>
              <a:t>td</a:t>
            </a:r>
            <a:endParaRPr lang="en-US"/>
          </a:p>
        </p:txBody>
      </p:sp>
      <p:sp>
        <p:nvSpPr>
          <p:cNvPr id="3" name="Freeform 3"/>
          <p:cNvSpPr/>
          <p:nvPr/>
        </p:nvSpPr>
        <p:spPr>
          <a:xfrm rot="5400000" flipH="1">
            <a:off x="-386521" y="5757225"/>
            <a:ext cx="4926699" cy="4153657"/>
          </a:xfrm>
          <a:custGeom>
            <a:avLst/>
            <a:gdLst/>
            <a:ahLst/>
            <a:cxnLst/>
            <a:rect l="l" t="t" r="r" b="b"/>
            <a:pathLst>
              <a:path w="4926699" h="4153657">
                <a:moveTo>
                  <a:pt x="4926699" y="0"/>
                </a:moveTo>
                <a:lnTo>
                  <a:pt x="0" y="0"/>
                </a:lnTo>
                <a:lnTo>
                  <a:pt x="0" y="4153658"/>
                </a:lnTo>
                <a:lnTo>
                  <a:pt x="4926699" y="4153658"/>
                </a:lnTo>
                <a:lnTo>
                  <a:pt x="492669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rot="-5400000">
            <a:off x="-336015" y="-901753"/>
            <a:ext cx="3749134" cy="1803506"/>
            <a:chOff x="0" y="0"/>
            <a:chExt cx="592941" cy="285216"/>
          </a:xfrm>
        </p:grpSpPr>
        <p:sp>
          <p:nvSpPr>
            <p:cNvPr id="5" name="Freeform 5"/>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6" name="TextBox 6"/>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7" name="TextBox 7"/>
          <p:cNvSpPr txBox="1"/>
          <p:nvPr/>
        </p:nvSpPr>
        <p:spPr>
          <a:xfrm>
            <a:off x="1227154" y="-171450"/>
            <a:ext cx="622796" cy="1651635"/>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4</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8" name="TextBox 8"/>
          <p:cNvSpPr txBox="1"/>
          <p:nvPr/>
        </p:nvSpPr>
        <p:spPr>
          <a:xfrm>
            <a:off x="1538552" y="3426211"/>
            <a:ext cx="8756593" cy="4573270"/>
          </a:xfrm>
          <a:prstGeom prst="rect">
            <a:avLst/>
          </a:prstGeom>
        </p:spPr>
        <p:txBody>
          <a:bodyPr lIns="0" tIns="0" rIns="0" bIns="0" rtlCol="0" anchor="t">
            <a:spAutoFit/>
          </a:bodyPr>
          <a:lstStyle/>
          <a:p>
            <a:pPr algn="just">
              <a:lnSpc>
                <a:spcPts val="5095"/>
              </a:lnSpc>
            </a:pPr>
            <a:r>
              <a:rPr lang="en-US" sz="3640" b="1">
                <a:solidFill>
                  <a:srgbClr val="000000"/>
                </a:solidFill>
                <a:latin typeface="Rasputin"/>
                <a:ea typeface="Rasputin"/>
                <a:cs typeface="Rasputin"/>
                <a:sym typeface="Rasputin"/>
              </a:rPr>
              <a:t>SpotCrime </a:t>
            </a:r>
            <a:r>
              <a:rPr lang="en-US" altLang="en-US" sz="3640">
                <a:solidFill>
                  <a:srgbClr val="000000"/>
                </a:solidFill>
                <a:latin typeface="Rasputin"/>
                <a:ea typeface="Rasputin"/>
                <a:cs typeface="Rasputin"/>
                <a:sym typeface="Rasputin"/>
              </a:rPr>
              <a:t>is a website and app that provides crime maps and recent crime reports by location. It helps users see where incidents such as theft, assault, burglary, and vandalism have occurred and check local crime trends.</a:t>
            </a:r>
            <a:r>
              <a:rPr lang="en-US" sz="3640">
                <a:solidFill>
                  <a:srgbClr val="000000"/>
                </a:solidFill>
                <a:latin typeface="Rasputin"/>
                <a:ea typeface="Rasputin"/>
                <a:cs typeface="Rasputin"/>
                <a:sym typeface="Rasputin"/>
              </a:rPr>
              <a:t> </a:t>
            </a:r>
            <a:endParaRPr lang="en-US" sz="3640">
              <a:solidFill>
                <a:srgbClr val="000000"/>
              </a:solidFill>
              <a:latin typeface="Rasputin"/>
              <a:ea typeface="Rasputin"/>
              <a:cs typeface="Rasputin"/>
              <a:sym typeface="Rasputin"/>
            </a:endParaRPr>
          </a:p>
        </p:txBody>
      </p:sp>
      <p:sp>
        <p:nvSpPr>
          <p:cNvPr id="9" name="TextBox 9"/>
          <p:cNvSpPr txBox="1"/>
          <p:nvPr/>
        </p:nvSpPr>
        <p:spPr>
          <a:xfrm>
            <a:off x="3429000" y="1233170"/>
            <a:ext cx="10167620" cy="1470660"/>
          </a:xfrm>
          <a:prstGeom prst="rect">
            <a:avLst/>
          </a:prstGeom>
        </p:spPr>
        <p:txBody>
          <a:bodyPr wrap="square" lIns="0" tIns="0" rIns="0" bIns="0" rtlCol="0" anchor="t">
            <a:spAutoFit/>
          </a:bodyPr>
          <a:lstStyle/>
          <a:p>
            <a:pPr marL="0" lvl="0" indent="0" algn="ctr">
              <a:lnSpc>
                <a:spcPts val="11470"/>
              </a:lnSpc>
              <a:spcBef>
                <a:spcPct val="0"/>
              </a:spcBef>
            </a:pPr>
            <a:r>
              <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Analogue solutions</a:t>
            </a:r>
            <a:endPar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1" name="Freeform 11"/>
          <p:cNvSpPr/>
          <p:nvPr/>
        </p:nvSpPr>
        <p:spPr>
          <a:xfrm rot="-7258340">
            <a:off x="15508975" y="-2057400"/>
            <a:ext cx="5558051" cy="4114800"/>
          </a:xfrm>
          <a:custGeom>
            <a:avLst/>
            <a:gdLst/>
            <a:ahLst/>
            <a:cxnLst/>
            <a:rect l="l" t="t" r="r" b="b"/>
            <a:pathLst>
              <a:path w="5558051" h="4114800">
                <a:moveTo>
                  <a:pt x="0" y="0"/>
                </a:moveTo>
                <a:lnTo>
                  <a:pt x="5558050" y="0"/>
                </a:lnTo>
                <a:lnTo>
                  <a:pt x="555805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6662599">
            <a:off x="13902453" y="-1456479"/>
            <a:ext cx="6713693" cy="4970359"/>
          </a:xfrm>
          <a:custGeom>
            <a:avLst/>
            <a:gdLst/>
            <a:ahLst/>
            <a:cxnLst/>
            <a:rect l="l" t="t" r="r" b="b"/>
            <a:pathLst>
              <a:path w="6713693" h="4970359">
                <a:moveTo>
                  <a:pt x="0" y="0"/>
                </a:moveTo>
                <a:lnTo>
                  <a:pt x="6713694" y="0"/>
                </a:lnTo>
                <a:lnTo>
                  <a:pt x="6713694" y="4970358"/>
                </a:lnTo>
                <a:lnTo>
                  <a:pt x="0" y="49703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pic>
        <p:nvPicPr>
          <p:cNvPr id="17" name="Picture 16"/>
          <p:cNvPicPr/>
          <p:nvPr/>
        </p:nvPicPr>
        <p:blipFill>
          <a:blip r:embed="rId10"/>
          <a:stretch>
            <a:fillRect/>
          </a:stretch>
        </p:blipFill>
        <p:spPr>
          <a:xfrm>
            <a:off x="11353800" y="3898265"/>
            <a:ext cx="5861685" cy="3629660"/>
          </a:xfrm>
          <a:prstGeom prst="rect">
            <a:avLst/>
          </a:prstGeom>
        </p:spPr>
      </p:pic>
      <p:sp>
        <p:nvSpPr>
          <p:cNvPr id="18" name="TextBox 8"/>
          <p:cNvSpPr txBox="1"/>
          <p:nvPr/>
        </p:nvSpPr>
        <p:spPr>
          <a:xfrm>
            <a:off x="4724347" y="9029451"/>
            <a:ext cx="8756593" cy="652780"/>
          </a:xfrm>
          <a:prstGeom prst="rect">
            <a:avLst/>
          </a:prstGeom>
        </p:spPr>
        <p:txBody>
          <a:bodyPr lIns="0" tIns="0" rIns="0" bIns="0" rtlCol="0" anchor="t">
            <a:spAutoFit/>
          </a:bodyPr>
          <a:lstStyle/>
          <a:p>
            <a:pPr algn="ctr">
              <a:lnSpc>
                <a:spcPts val="5095"/>
              </a:lnSpc>
            </a:pPr>
            <a:r>
              <a:rPr lang="en-US" altLang="en-US" sz="3640">
                <a:solidFill>
                  <a:srgbClr val="000000"/>
                </a:solidFill>
                <a:latin typeface="Rasputin"/>
                <a:ea typeface="Rasputin"/>
                <a:cs typeface="Rasputin"/>
                <a:sym typeface="Rasputin"/>
                <a:hlinkClick r:id="rId11" action="ppaction://hlinkfile"/>
              </a:rPr>
              <a:t>https://spotcrime.com</a:t>
            </a:r>
            <a:endParaRPr lang="en-US" altLang="en-US" sz="3640">
              <a:solidFill>
                <a:srgbClr val="000000"/>
              </a:solidFill>
              <a:latin typeface="Rasputin"/>
              <a:ea typeface="Rasputin"/>
              <a:cs typeface="Rasputin"/>
              <a:sym typeface="Rasputi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p:nvPr/>
        </p:nvPicPr>
        <p:blipFill>
          <a:blip r:embed="rId1"/>
          <a:stretch>
            <a:fillRect/>
          </a:stretch>
        </p:blipFill>
        <p:spPr>
          <a:xfrm>
            <a:off x="381000" y="3543300"/>
            <a:ext cx="7646035" cy="4487545"/>
          </a:xfrm>
          <a:prstGeom prst="rect">
            <a:avLst/>
          </a:prstGeom>
        </p:spPr>
      </p:pic>
      <p:sp>
        <p:nvSpPr>
          <p:cNvPr id="2" name="Freeform 2"/>
          <p:cNvSpPr/>
          <p:nvPr/>
        </p:nvSpPr>
        <p:spPr>
          <a:xfrm>
            <a:off x="-685800" y="3810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2">
              <a:alphaModFix amt="5000"/>
              <a:extLst>
                <a:ext uri="{96DAC541-7B7A-43D3-8B79-37D633B846F1}">
                  <asvg:svgBlip xmlns:asvg="http://schemas.microsoft.com/office/drawing/2016/SVG/main" r:embed="rId3"/>
                </a:ext>
              </a:extLst>
            </a:blip>
            <a:stretch>
              <a:fillRect/>
            </a:stretch>
          </a:blipFill>
        </p:spPr>
        <p:txBody>
          <a:bodyPr/>
          <a:p>
            <a:endParaRPr lang="en-US"/>
          </a:p>
        </p:txBody>
      </p:sp>
      <p:sp>
        <p:nvSpPr>
          <p:cNvPr id="3" name="Freeform 3"/>
          <p:cNvSpPr/>
          <p:nvPr/>
        </p:nvSpPr>
        <p:spPr>
          <a:xfrm rot="5400000" flipH="1">
            <a:off x="-386521" y="5757225"/>
            <a:ext cx="4926699" cy="4153657"/>
          </a:xfrm>
          <a:custGeom>
            <a:avLst/>
            <a:gdLst/>
            <a:ahLst/>
            <a:cxnLst/>
            <a:rect l="l" t="t" r="r" b="b"/>
            <a:pathLst>
              <a:path w="4926699" h="4153657">
                <a:moveTo>
                  <a:pt x="4926699" y="0"/>
                </a:moveTo>
                <a:lnTo>
                  <a:pt x="0" y="0"/>
                </a:lnTo>
                <a:lnTo>
                  <a:pt x="0" y="4153658"/>
                </a:lnTo>
                <a:lnTo>
                  <a:pt x="4926699" y="4153658"/>
                </a:lnTo>
                <a:lnTo>
                  <a:pt x="492669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rot="-5400000">
            <a:off x="-336015" y="-901753"/>
            <a:ext cx="3749134" cy="1803506"/>
            <a:chOff x="0" y="0"/>
            <a:chExt cx="592941" cy="285216"/>
          </a:xfrm>
        </p:grpSpPr>
        <p:sp>
          <p:nvSpPr>
            <p:cNvPr id="5" name="Freeform 5"/>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6" name="TextBox 6"/>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7" name="TextBox 7"/>
          <p:cNvSpPr txBox="1"/>
          <p:nvPr/>
        </p:nvSpPr>
        <p:spPr>
          <a:xfrm>
            <a:off x="1227154" y="-171450"/>
            <a:ext cx="622796" cy="1566544"/>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5</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8" name="TextBox 8"/>
          <p:cNvSpPr txBox="1"/>
          <p:nvPr/>
        </p:nvSpPr>
        <p:spPr>
          <a:xfrm>
            <a:off x="8305747" y="3426211"/>
            <a:ext cx="8756593" cy="4573270"/>
          </a:xfrm>
          <a:prstGeom prst="rect">
            <a:avLst/>
          </a:prstGeom>
        </p:spPr>
        <p:txBody>
          <a:bodyPr lIns="0" tIns="0" rIns="0" bIns="0" rtlCol="0" anchor="t">
            <a:spAutoFit/>
          </a:bodyPr>
          <a:lstStyle/>
          <a:p>
            <a:pPr algn="just">
              <a:lnSpc>
                <a:spcPts val="5095"/>
              </a:lnSpc>
            </a:pPr>
            <a:r>
              <a:rPr lang="en-US" altLang="en-US" sz="3640" b="1">
                <a:solidFill>
                  <a:srgbClr val="000000"/>
                </a:solidFill>
                <a:latin typeface="Rasputin"/>
                <a:ea typeface="Rasputin"/>
                <a:cs typeface="Rasputin"/>
                <a:sym typeface="Rasputin"/>
              </a:rPr>
              <a:t>Citizen </a:t>
            </a:r>
            <a:r>
              <a:rPr lang="en-US" altLang="en-US" sz="3640">
                <a:solidFill>
                  <a:srgbClr val="000000"/>
                </a:solidFill>
                <a:latin typeface="Rasputin"/>
                <a:ea typeface="Rasputin"/>
                <a:cs typeface="Rasputin"/>
                <a:sym typeface="Rasputin"/>
              </a:rPr>
              <a:t>is a safety app that provides real-time alerts, incident updates, and live video about emergencies and public safety events nearby. Users can search incidents, receive notifications, and share information with their community.</a:t>
            </a:r>
            <a:endParaRPr lang="en-US" altLang="en-US" sz="3640">
              <a:solidFill>
                <a:srgbClr val="000000"/>
              </a:solidFill>
              <a:latin typeface="Rasputin"/>
              <a:ea typeface="Rasputin"/>
              <a:cs typeface="Rasputin"/>
              <a:sym typeface="Rasputin"/>
            </a:endParaRPr>
          </a:p>
        </p:txBody>
      </p:sp>
      <p:sp>
        <p:nvSpPr>
          <p:cNvPr id="9" name="TextBox 9"/>
          <p:cNvSpPr txBox="1"/>
          <p:nvPr/>
        </p:nvSpPr>
        <p:spPr>
          <a:xfrm>
            <a:off x="3429000" y="1233170"/>
            <a:ext cx="10167620" cy="1470660"/>
          </a:xfrm>
          <a:prstGeom prst="rect">
            <a:avLst/>
          </a:prstGeom>
        </p:spPr>
        <p:txBody>
          <a:bodyPr wrap="square" lIns="0" tIns="0" rIns="0" bIns="0" rtlCol="0" anchor="t">
            <a:spAutoFit/>
          </a:bodyPr>
          <a:lstStyle/>
          <a:p>
            <a:pPr marL="0" lvl="0" indent="0" algn="ctr">
              <a:lnSpc>
                <a:spcPts val="11470"/>
              </a:lnSpc>
              <a:spcBef>
                <a:spcPct val="0"/>
              </a:spcBef>
            </a:pPr>
            <a:r>
              <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Analogue solutions</a:t>
            </a:r>
            <a:endPar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1" name="Freeform 11"/>
          <p:cNvSpPr/>
          <p:nvPr/>
        </p:nvSpPr>
        <p:spPr>
          <a:xfrm rot="-7258340">
            <a:off x="15508975" y="-2057400"/>
            <a:ext cx="5558051" cy="4114800"/>
          </a:xfrm>
          <a:custGeom>
            <a:avLst/>
            <a:gdLst/>
            <a:ahLst/>
            <a:cxnLst/>
            <a:rect l="l" t="t" r="r" b="b"/>
            <a:pathLst>
              <a:path w="5558051" h="4114800">
                <a:moveTo>
                  <a:pt x="0" y="0"/>
                </a:moveTo>
                <a:lnTo>
                  <a:pt x="5558050" y="0"/>
                </a:lnTo>
                <a:lnTo>
                  <a:pt x="555805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6662599">
            <a:off x="13902453" y="-1456479"/>
            <a:ext cx="6713693" cy="4970359"/>
          </a:xfrm>
          <a:custGeom>
            <a:avLst/>
            <a:gdLst/>
            <a:ahLst/>
            <a:cxnLst/>
            <a:rect l="l" t="t" r="r" b="b"/>
            <a:pathLst>
              <a:path w="6713693" h="4970359">
                <a:moveTo>
                  <a:pt x="0" y="0"/>
                </a:moveTo>
                <a:lnTo>
                  <a:pt x="6713694" y="0"/>
                </a:lnTo>
                <a:lnTo>
                  <a:pt x="6713694" y="4970358"/>
                </a:lnTo>
                <a:lnTo>
                  <a:pt x="0" y="49703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8"/>
          <p:cNvSpPr txBox="1"/>
          <p:nvPr/>
        </p:nvSpPr>
        <p:spPr>
          <a:xfrm>
            <a:off x="4724347" y="9029451"/>
            <a:ext cx="8756593" cy="652780"/>
          </a:xfrm>
          <a:prstGeom prst="rect">
            <a:avLst/>
          </a:prstGeom>
        </p:spPr>
        <p:txBody>
          <a:bodyPr lIns="0" tIns="0" rIns="0" bIns="0" rtlCol="0" anchor="t">
            <a:spAutoFit/>
          </a:bodyPr>
          <a:lstStyle/>
          <a:p>
            <a:pPr algn="ctr">
              <a:lnSpc>
                <a:spcPts val="5095"/>
              </a:lnSpc>
            </a:pPr>
            <a:r>
              <a:rPr lang="en-US" altLang="en-US" sz="3640">
                <a:solidFill>
                  <a:srgbClr val="000000"/>
                </a:solidFill>
                <a:latin typeface="Rasputin"/>
                <a:ea typeface="Rasputin"/>
                <a:cs typeface="Rasputin"/>
                <a:sym typeface="Rasputin"/>
                <a:hlinkClick r:id="rId10" action="ppaction://hlinkfile"/>
              </a:rPr>
              <a:t>https://citizen.com</a:t>
            </a:r>
            <a:endParaRPr lang="en-US" altLang="en-US" sz="3640">
              <a:solidFill>
                <a:srgbClr val="000000"/>
              </a:solidFill>
              <a:latin typeface="Rasputin"/>
              <a:ea typeface="Rasputin"/>
              <a:cs typeface="Rasputin"/>
              <a:sym typeface="Rasputin"/>
            </a:endParaRPr>
          </a:p>
        </p:txBody>
      </p:sp>
      <p:pic>
        <p:nvPicPr>
          <p:cNvPr id="10" name="Picture 9"/>
          <p:cNvPicPr/>
          <p:nvPr/>
        </p:nvPicPr>
        <p:blipFill>
          <a:blip r:embed="rId11"/>
          <a:stretch>
            <a:fillRect/>
          </a:stretch>
        </p:blipFill>
        <p:spPr>
          <a:xfrm>
            <a:off x="13868400" y="7658100"/>
            <a:ext cx="3657600" cy="2057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7620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4191000" y="4381500"/>
            <a:ext cx="9933305" cy="1470660"/>
          </a:xfrm>
          <a:prstGeom prst="rect">
            <a:avLst/>
          </a:prstGeom>
        </p:spPr>
        <p:txBody>
          <a:bodyPr wrap="square" lIns="0" tIns="0" rIns="0" bIns="0" rtlCol="0" anchor="t">
            <a:spAutoFit/>
          </a:bodyPr>
          <a:lstStyle/>
          <a:p>
            <a:pPr marL="0" lvl="0" indent="0" algn="ctr">
              <a:lnSpc>
                <a:spcPts val="11470"/>
              </a:lnSpc>
              <a:spcBef>
                <a:spcPct val="0"/>
              </a:spcBef>
            </a:pPr>
            <a:r>
              <a:rPr lang="en-US" alt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hlinkClick r:id="rId3" action="ppaction://hlinkfile"/>
              </a:rPr>
              <a:t>CITY CRIME MAP </a:t>
            </a:r>
            <a:endParaRPr lang="en-US" alt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3810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flipV="1">
            <a:off x="13747822" y="386521"/>
            <a:ext cx="4926699" cy="4153657"/>
          </a:xfrm>
          <a:custGeom>
            <a:avLst/>
            <a:gdLst/>
            <a:ahLst/>
            <a:cxnLst/>
            <a:rect l="l" t="t" r="r" b="b"/>
            <a:pathLst>
              <a:path w="4926699" h="4153657">
                <a:moveTo>
                  <a:pt x="0" y="4153657"/>
                </a:moveTo>
                <a:lnTo>
                  <a:pt x="4926699" y="4153657"/>
                </a:lnTo>
                <a:lnTo>
                  <a:pt x="4926699" y="0"/>
                </a:lnTo>
                <a:lnTo>
                  <a:pt x="0" y="0"/>
                </a:lnTo>
                <a:lnTo>
                  <a:pt x="0" y="4153657"/>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5400000">
            <a:off x="-336015" y="-901753"/>
            <a:ext cx="3749134" cy="1803506"/>
            <a:chOff x="0" y="0"/>
            <a:chExt cx="592941" cy="285216"/>
          </a:xfrm>
        </p:grpSpPr>
        <p:sp>
          <p:nvSpPr>
            <p:cNvPr id="5" name="Freeform 5"/>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6" name="TextBox 6"/>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7" name="TextBox 7"/>
          <p:cNvSpPr txBox="1"/>
          <p:nvPr/>
        </p:nvSpPr>
        <p:spPr>
          <a:xfrm>
            <a:off x="1233579" y="-171450"/>
            <a:ext cx="609947" cy="1651635"/>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6</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8" name="TextBox 8"/>
          <p:cNvSpPr txBox="1"/>
          <p:nvPr/>
        </p:nvSpPr>
        <p:spPr>
          <a:xfrm>
            <a:off x="1028700" y="3026778"/>
            <a:ext cx="15503081" cy="5226685"/>
          </a:xfrm>
          <a:prstGeom prst="rect">
            <a:avLst/>
          </a:prstGeom>
        </p:spPr>
        <p:txBody>
          <a:bodyPr lIns="0" tIns="0" rIns="0" bIns="0" rtlCol="0" anchor="t">
            <a:spAutoFit/>
          </a:bodyPr>
          <a:lstStyle/>
          <a:p>
            <a:pPr marL="0" lvl="1" indent="-393065" algn="just">
              <a:lnSpc>
                <a:spcPts val="5095"/>
              </a:lnSpc>
              <a:buFont typeface="Arial" panose="020B0604020202020204"/>
              <a:buChar char="•"/>
            </a:pPr>
            <a:r>
              <a:rPr lang="en-US" altLang="en-US" sz="3640">
                <a:solidFill>
                  <a:srgbClr val="000000"/>
                </a:solidFill>
                <a:latin typeface="Rasputin"/>
                <a:ea typeface="Rasputin"/>
                <a:cs typeface="Rasputin"/>
                <a:sym typeface="Rasputin"/>
              </a:rPr>
              <a:t>These solutions</a:t>
            </a:r>
            <a:r>
              <a:rPr lang="en-US" altLang="en-US" sz="3640" b="1">
                <a:solidFill>
                  <a:srgbClr val="000000"/>
                </a:solidFill>
                <a:latin typeface="Rasputin"/>
                <a:ea typeface="Rasputin"/>
                <a:cs typeface="Rasputin"/>
                <a:sym typeface="Rasputin"/>
              </a:rPr>
              <a:t> </a:t>
            </a:r>
            <a:r>
              <a:rPr lang="en-US" altLang="en-US" sz="3640">
                <a:solidFill>
                  <a:srgbClr val="000000"/>
                </a:solidFill>
                <a:latin typeface="Rasputin"/>
                <a:ea typeface="Rasputin"/>
                <a:cs typeface="Rasputin"/>
                <a:sym typeface="Rasputin"/>
              </a:rPr>
              <a:t>mainly display already recorded crimes (</a:t>
            </a:r>
            <a:r>
              <a:rPr lang="en-US" altLang="en-US" sz="3640" i="1">
                <a:solidFill>
                  <a:srgbClr val="000000"/>
                </a:solidFill>
                <a:latin typeface="Rasputin"/>
                <a:ea typeface="Rasputin"/>
                <a:cs typeface="Rasputin"/>
                <a:sym typeface="Rasputin"/>
              </a:rPr>
              <a:t>excl. Citizen</a:t>
            </a:r>
            <a:r>
              <a:rPr lang="en-US" altLang="en-US" sz="3640">
                <a:solidFill>
                  <a:srgbClr val="000000"/>
                </a:solidFill>
                <a:latin typeface="Rasputin"/>
                <a:ea typeface="Rasputin"/>
                <a:cs typeface="Rasputin"/>
                <a:sym typeface="Rasputin"/>
              </a:rPr>
              <a:t>), making it l</a:t>
            </a:r>
            <a:r>
              <a:rPr lang="en-US" altLang="en-US" sz="3640" b="1">
                <a:solidFill>
                  <a:srgbClr val="000000"/>
                </a:solidFill>
                <a:latin typeface="Rasputin"/>
                <a:ea typeface="Rasputin"/>
                <a:cs typeface="Rasputin"/>
                <a:sym typeface="Rasputin"/>
              </a:rPr>
              <a:t>ess suitable for real-time incident reporting</a:t>
            </a:r>
            <a:r>
              <a:rPr lang="en-US" altLang="en-US" sz="3640">
                <a:solidFill>
                  <a:srgbClr val="000000"/>
                </a:solidFill>
                <a:latin typeface="Rasputin"/>
                <a:ea typeface="Rasputin"/>
                <a:cs typeface="Rasputin"/>
                <a:sym typeface="Rasputin"/>
              </a:rPr>
              <a:t> and emergency assistance, m</a:t>
            </a:r>
            <a:r>
              <a:rPr lang="en-US" altLang="en-US" sz="3640">
                <a:solidFill>
                  <a:srgbClr val="000000"/>
                </a:solidFill>
                <a:latin typeface="Rasputin"/>
                <a:ea typeface="Rasputin"/>
                <a:cs typeface="Rasputin"/>
                <a:sym typeface="Rasputin"/>
              </a:rPr>
              <a:t>any of features </a:t>
            </a:r>
            <a:r>
              <a:rPr lang="en-US" altLang="en-US" sz="3640" b="1">
                <a:solidFill>
                  <a:srgbClr val="000000"/>
                </a:solidFill>
                <a:latin typeface="Rasputin"/>
                <a:ea typeface="Rasputin"/>
                <a:cs typeface="Rasputin"/>
                <a:sym typeface="Rasputin"/>
              </a:rPr>
              <a:t>rely on local (USA) data sources</a:t>
            </a:r>
            <a:r>
              <a:rPr lang="en-US" altLang="en-US" sz="3640">
                <a:solidFill>
                  <a:srgbClr val="000000"/>
                </a:solidFill>
                <a:latin typeface="Rasputin"/>
                <a:ea typeface="Rasputin"/>
                <a:cs typeface="Rasputin"/>
                <a:sym typeface="Rasputin"/>
              </a:rPr>
              <a:t> and require complex moderation of user-generated reports (</a:t>
            </a:r>
            <a:r>
              <a:rPr lang="en-US" altLang="en-US" sz="3640" i="1">
                <a:solidFill>
                  <a:srgbClr val="000000"/>
                </a:solidFill>
                <a:latin typeface="Rasputin"/>
                <a:ea typeface="Rasputin"/>
                <a:cs typeface="Rasputin"/>
                <a:sym typeface="Rasputin"/>
              </a:rPr>
              <a:t>excl. Crime Map</a:t>
            </a:r>
            <a:r>
              <a:rPr lang="en-US" altLang="en-US" sz="3640">
                <a:solidFill>
                  <a:srgbClr val="000000"/>
                </a:solidFill>
                <a:latin typeface="Rasputin"/>
                <a:ea typeface="Rasputin"/>
                <a:cs typeface="Rasputin"/>
                <a:sym typeface="Rasputin"/>
              </a:rPr>
              <a:t>) and therefore </a:t>
            </a:r>
            <a:r>
              <a:rPr lang="en-US" altLang="en-US" sz="3640" b="1">
                <a:solidFill>
                  <a:srgbClr val="000000"/>
                </a:solidFill>
                <a:latin typeface="Rasputin"/>
                <a:ea typeface="Rasputin"/>
                <a:cs typeface="Rasputin"/>
                <a:sym typeface="Rasputin"/>
              </a:rPr>
              <a:t>poorly adapted to the needs of Kazakhstan</a:t>
            </a:r>
            <a:r>
              <a:rPr lang="en-US" altLang="en-US" sz="3640">
                <a:solidFill>
                  <a:srgbClr val="000000"/>
                </a:solidFill>
                <a:latin typeface="Rasputin"/>
                <a:ea typeface="Rasputin"/>
                <a:cs typeface="Rasputin"/>
                <a:sym typeface="Rasputin"/>
              </a:rPr>
              <a:t>.</a:t>
            </a:r>
            <a:endParaRPr lang="en-US" altLang="en-US" sz="3640">
              <a:solidFill>
                <a:srgbClr val="000000"/>
              </a:solidFill>
              <a:latin typeface="Rasputin"/>
              <a:ea typeface="Rasputin"/>
              <a:cs typeface="Rasputin"/>
              <a:sym typeface="Rasputin"/>
            </a:endParaRPr>
          </a:p>
          <a:p>
            <a:pPr marL="0" lvl="1" indent="-393065" algn="just">
              <a:lnSpc>
                <a:spcPts val="5095"/>
              </a:lnSpc>
              <a:buFont typeface="Arial" panose="020B0604020202020204"/>
              <a:buChar char="•"/>
            </a:pPr>
            <a:endParaRPr lang="en-US" altLang="en-US" sz="3640">
              <a:solidFill>
                <a:srgbClr val="000000"/>
              </a:solidFill>
              <a:latin typeface="Rasputin"/>
              <a:ea typeface="Rasputin"/>
              <a:cs typeface="Rasputin"/>
              <a:sym typeface="Rasputin"/>
            </a:endParaRPr>
          </a:p>
          <a:p>
            <a:pPr marL="786130" lvl="1" indent="-393065" algn="just">
              <a:lnSpc>
                <a:spcPts val="5095"/>
              </a:lnSpc>
              <a:buFont typeface="Arial" panose="020B0604020202020204"/>
              <a:buChar char="•"/>
            </a:pPr>
            <a:endParaRPr lang="en-US" altLang="en-US" sz="3640">
              <a:solidFill>
                <a:srgbClr val="000000"/>
              </a:solidFill>
              <a:latin typeface="Rasputin"/>
              <a:ea typeface="Rasputin"/>
              <a:cs typeface="Rasputin"/>
              <a:sym typeface="Rasputin"/>
            </a:endParaRPr>
          </a:p>
        </p:txBody>
      </p:sp>
      <p:sp>
        <p:nvSpPr>
          <p:cNvPr id="9" name="TextBox 9"/>
          <p:cNvSpPr txBox="1"/>
          <p:nvPr/>
        </p:nvSpPr>
        <p:spPr>
          <a:xfrm>
            <a:off x="4511651" y="866775"/>
            <a:ext cx="8537178" cy="1470660"/>
          </a:xfrm>
          <a:prstGeom prst="rect">
            <a:avLst/>
          </a:prstGeom>
        </p:spPr>
        <p:txBody>
          <a:bodyPr lIns="0" tIns="0" rIns="0" bIns="0" rtlCol="0" anchor="t">
            <a:spAutoFit/>
          </a:bodyPr>
          <a:lstStyle/>
          <a:p>
            <a:pPr marL="0" lvl="0" indent="0" algn="ctr">
              <a:lnSpc>
                <a:spcPts val="11470"/>
              </a:lnSpc>
              <a:spcBef>
                <a:spcPct val="0"/>
              </a:spcBef>
            </a:pPr>
            <a:r>
              <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LIMITATIONS</a:t>
            </a:r>
            <a:endPar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2" name="Freeform 5"/>
          <p:cNvSpPr/>
          <p:nvPr/>
        </p:nvSpPr>
        <p:spPr>
          <a:xfrm>
            <a:off x="14480275" y="8589923"/>
            <a:ext cx="5558051" cy="4114800"/>
          </a:xfrm>
          <a:custGeom>
            <a:avLst/>
            <a:gdLst/>
            <a:ahLst/>
            <a:cxnLst/>
            <a:rect l="l" t="t" r="r" b="b"/>
            <a:pathLst>
              <a:path w="5558051" h="4114800">
                <a:moveTo>
                  <a:pt x="0" y="0"/>
                </a:moveTo>
                <a:lnTo>
                  <a:pt x="5558050" y="0"/>
                </a:lnTo>
                <a:lnTo>
                  <a:pt x="555805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5400000">
            <a:off x="-336015" y="-901753"/>
            <a:ext cx="3749134" cy="1803506"/>
            <a:chOff x="0" y="0"/>
            <a:chExt cx="592941" cy="285216"/>
          </a:xfrm>
        </p:grpSpPr>
        <p:sp>
          <p:nvSpPr>
            <p:cNvPr id="4" name="Freeform 4"/>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5" name="TextBox 5"/>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6" name="Freeform 6"/>
          <p:cNvSpPr/>
          <p:nvPr/>
        </p:nvSpPr>
        <p:spPr>
          <a:xfrm rot="-7258340">
            <a:off x="15508975" y="-2057400"/>
            <a:ext cx="5558051" cy="4114800"/>
          </a:xfrm>
          <a:custGeom>
            <a:avLst/>
            <a:gdLst/>
            <a:ahLst/>
            <a:cxnLst/>
            <a:rect l="l" t="t" r="r" b="b"/>
            <a:pathLst>
              <a:path w="5558051" h="4114800">
                <a:moveTo>
                  <a:pt x="0" y="0"/>
                </a:moveTo>
                <a:lnTo>
                  <a:pt x="5558050" y="0"/>
                </a:lnTo>
                <a:lnTo>
                  <a:pt x="555805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6662599">
            <a:off x="13902453" y="-1456479"/>
            <a:ext cx="6713693" cy="4970359"/>
          </a:xfrm>
          <a:custGeom>
            <a:avLst/>
            <a:gdLst/>
            <a:ahLst/>
            <a:cxnLst/>
            <a:rect l="l" t="t" r="r" b="b"/>
            <a:pathLst>
              <a:path w="6713693" h="4970359">
                <a:moveTo>
                  <a:pt x="0" y="0"/>
                </a:moveTo>
                <a:lnTo>
                  <a:pt x="6713694" y="0"/>
                </a:lnTo>
                <a:lnTo>
                  <a:pt x="6713694" y="4970358"/>
                </a:lnTo>
                <a:lnTo>
                  <a:pt x="0" y="49703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539864" y="7322632"/>
            <a:ext cx="1536965" cy="2588448"/>
          </a:xfrm>
          <a:custGeom>
            <a:avLst/>
            <a:gdLst/>
            <a:ahLst/>
            <a:cxnLst/>
            <a:rect l="l" t="t" r="r" b="b"/>
            <a:pathLst>
              <a:path w="1536965" h="2588448">
                <a:moveTo>
                  <a:pt x="0" y="0"/>
                </a:moveTo>
                <a:lnTo>
                  <a:pt x="1536965" y="0"/>
                </a:lnTo>
                <a:lnTo>
                  <a:pt x="1536965" y="2588448"/>
                </a:lnTo>
                <a:lnTo>
                  <a:pt x="0" y="25884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9" name="Picture 9"/>
          <p:cNvPicPr>
            <a:picLocks noChangeAspect="1"/>
          </p:cNvPicPr>
          <p:nvPr/>
        </p:nvPicPr>
        <p:blipFill>
          <a:blip r:embed="rId9"/>
          <a:srcRect/>
          <a:stretch>
            <a:fillRect/>
          </a:stretch>
        </p:blipFill>
        <p:spPr>
          <a:xfrm flipH="1">
            <a:off x="11744696" y="3959045"/>
            <a:ext cx="6543304" cy="6347005"/>
          </a:xfrm>
          <a:prstGeom prst="rect">
            <a:avLst/>
          </a:prstGeom>
        </p:spPr>
      </p:pic>
      <p:sp>
        <p:nvSpPr>
          <p:cNvPr id="10" name="TextBox 10"/>
          <p:cNvSpPr txBox="1"/>
          <p:nvPr/>
        </p:nvSpPr>
        <p:spPr>
          <a:xfrm>
            <a:off x="1241194" y="-171450"/>
            <a:ext cx="594717" cy="1566544"/>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7</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1" name="TextBox 11"/>
          <p:cNvSpPr txBox="1"/>
          <p:nvPr/>
        </p:nvSpPr>
        <p:spPr>
          <a:xfrm>
            <a:off x="6087471" y="1233169"/>
            <a:ext cx="6113059" cy="1404629"/>
          </a:xfrm>
          <a:prstGeom prst="rect">
            <a:avLst/>
          </a:prstGeom>
        </p:spPr>
        <p:txBody>
          <a:bodyPr lIns="0" tIns="0" rIns="0" bIns="0" rtlCol="0" anchor="t">
            <a:spAutoFit/>
          </a:bodyPr>
          <a:lstStyle/>
          <a:p>
            <a:pPr marL="0" lvl="0" indent="0" algn="ctr">
              <a:lnSpc>
                <a:spcPts val="11470"/>
              </a:lnSpc>
              <a:spcBef>
                <a:spcPct val="0"/>
              </a:spcBef>
            </a:pPr>
            <a:r>
              <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ANALYSIS</a:t>
            </a:r>
            <a:endPar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2" name="TextBox 12"/>
          <p:cNvSpPr txBox="1"/>
          <p:nvPr/>
        </p:nvSpPr>
        <p:spPr>
          <a:xfrm>
            <a:off x="2077085" y="3347720"/>
            <a:ext cx="14645640" cy="3919855"/>
          </a:xfrm>
          <a:prstGeom prst="rect">
            <a:avLst/>
          </a:prstGeom>
        </p:spPr>
        <p:txBody>
          <a:bodyPr wrap="square" lIns="0" tIns="0" rIns="0" bIns="0" rtlCol="0" anchor="t">
            <a:spAutoFit/>
          </a:bodyPr>
          <a:lstStyle/>
          <a:p>
            <a:pPr algn="ctr">
              <a:lnSpc>
                <a:spcPts val="5095"/>
              </a:lnSpc>
            </a:pPr>
            <a:r>
              <a:rPr lang="en-US" altLang="en-US" sz="3640">
                <a:solidFill>
                  <a:srgbClr val="000000"/>
                </a:solidFill>
                <a:latin typeface="Rasputin"/>
                <a:ea typeface="Rasputin"/>
                <a:cs typeface="Rasputin"/>
                <a:sym typeface="Rasputin"/>
              </a:rPr>
              <a:t>Existing services address individual parts of the problem, but they do not combine them into a single local safety system adapted to Kazakhstan. Safety information, citizen reports, and access to emergency assistance are currently handled separately. Our project brings these capabilities together in one convenient digital platform.</a:t>
            </a:r>
            <a:endParaRPr lang="en-US" altLang="en-US" sz="3640">
              <a:solidFill>
                <a:srgbClr val="000000"/>
              </a:solidFill>
              <a:latin typeface="Rasputin"/>
              <a:ea typeface="Rasputin"/>
              <a:cs typeface="Rasputin"/>
              <a:sym typeface="Rasputi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5400000">
            <a:off x="-336015" y="-901753"/>
            <a:ext cx="3749134" cy="1803506"/>
            <a:chOff x="0" y="0"/>
            <a:chExt cx="592941" cy="285216"/>
          </a:xfrm>
        </p:grpSpPr>
        <p:sp>
          <p:nvSpPr>
            <p:cNvPr id="4" name="Freeform 4"/>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5" name="TextBox 5"/>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6" name="Freeform 6"/>
          <p:cNvSpPr/>
          <p:nvPr/>
        </p:nvSpPr>
        <p:spPr>
          <a:xfrm rot="-6703529">
            <a:off x="15130298" y="-1359853"/>
            <a:ext cx="5558051" cy="4114800"/>
          </a:xfrm>
          <a:custGeom>
            <a:avLst/>
            <a:gdLst/>
            <a:ahLst/>
            <a:cxnLst/>
            <a:rect l="l" t="t" r="r" b="b"/>
            <a:pathLst>
              <a:path w="5558051" h="4114800">
                <a:moveTo>
                  <a:pt x="0" y="0"/>
                </a:moveTo>
                <a:lnTo>
                  <a:pt x="5558051" y="0"/>
                </a:lnTo>
                <a:lnTo>
                  <a:pt x="555805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6662599">
            <a:off x="-1520936" y="6530934"/>
            <a:ext cx="6713693" cy="4970359"/>
          </a:xfrm>
          <a:custGeom>
            <a:avLst/>
            <a:gdLst/>
            <a:ahLst/>
            <a:cxnLst/>
            <a:rect l="l" t="t" r="r" b="b"/>
            <a:pathLst>
              <a:path w="6713693" h="4970359">
                <a:moveTo>
                  <a:pt x="0" y="0"/>
                </a:moveTo>
                <a:lnTo>
                  <a:pt x="6713693" y="0"/>
                </a:lnTo>
                <a:lnTo>
                  <a:pt x="6713693" y="4970358"/>
                </a:lnTo>
                <a:lnTo>
                  <a:pt x="0" y="49703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6130829" y="-26441"/>
            <a:ext cx="1536965" cy="2588448"/>
          </a:xfrm>
          <a:custGeom>
            <a:avLst/>
            <a:gdLst/>
            <a:ahLst/>
            <a:cxnLst/>
            <a:rect l="l" t="t" r="r" b="b"/>
            <a:pathLst>
              <a:path w="1536965" h="2588448">
                <a:moveTo>
                  <a:pt x="0" y="0"/>
                </a:moveTo>
                <a:lnTo>
                  <a:pt x="1536965" y="0"/>
                </a:lnTo>
                <a:lnTo>
                  <a:pt x="1536965" y="2588448"/>
                </a:lnTo>
                <a:lnTo>
                  <a:pt x="0" y="25884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219564" y="-171450"/>
            <a:ext cx="637977" cy="1566544"/>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8</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0" name="TextBox 10"/>
          <p:cNvSpPr txBox="1"/>
          <p:nvPr/>
        </p:nvSpPr>
        <p:spPr>
          <a:xfrm>
            <a:off x="1388688" y="2504857"/>
            <a:ext cx="15510623" cy="2613025"/>
          </a:xfrm>
          <a:prstGeom prst="rect">
            <a:avLst/>
          </a:prstGeom>
        </p:spPr>
        <p:txBody>
          <a:bodyPr lIns="0" tIns="0" rIns="0" bIns="0" rtlCol="0" anchor="t">
            <a:spAutoFit/>
          </a:bodyPr>
          <a:lstStyle/>
          <a:p>
            <a:pPr marL="786130" lvl="1" indent="-393065" algn="just">
              <a:lnSpc>
                <a:spcPts val="5095"/>
              </a:lnSpc>
              <a:buFont typeface="Arial" panose="020B0604020202020204"/>
              <a:buChar char="•"/>
            </a:pPr>
            <a:r>
              <a:rPr lang="en-US" altLang="en-US" sz="3640">
                <a:solidFill>
                  <a:srgbClr val="000000"/>
                </a:solidFill>
                <a:latin typeface="Rasputin"/>
                <a:ea typeface="Rasputin"/>
                <a:cs typeface="Rasputin"/>
                <a:sym typeface="Rasputin"/>
              </a:rPr>
              <a:t>Our project aims to combine functions presented independently in other apps/websites into one integrated application designed specifically for Kazakhstan. The functions are:</a:t>
            </a:r>
            <a:endParaRPr lang="en-US" altLang="en-US" sz="3640">
              <a:solidFill>
                <a:srgbClr val="000000"/>
              </a:solidFill>
              <a:latin typeface="Rasputin"/>
              <a:ea typeface="Rasputin"/>
              <a:cs typeface="Rasputin"/>
              <a:sym typeface="Rasputin"/>
            </a:endParaRPr>
          </a:p>
        </p:txBody>
      </p:sp>
      <p:sp>
        <p:nvSpPr>
          <p:cNvPr id="11" name="TextBox 11"/>
          <p:cNvSpPr txBox="1"/>
          <p:nvPr/>
        </p:nvSpPr>
        <p:spPr>
          <a:xfrm>
            <a:off x="4875411" y="866775"/>
            <a:ext cx="8537178" cy="1404629"/>
          </a:xfrm>
          <a:prstGeom prst="rect">
            <a:avLst/>
          </a:prstGeom>
        </p:spPr>
        <p:txBody>
          <a:bodyPr lIns="0" tIns="0" rIns="0" bIns="0" rtlCol="0" anchor="t">
            <a:spAutoFit/>
          </a:bodyPr>
          <a:lstStyle/>
          <a:p>
            <a:pPr marL="0" lvl="0" indent="0" algn="ctr">
              <a:lnSpc>
                <a:spcPts val="11470"/>
              </a:lnSpc>
              <a:spcBef>
                <a:spcPct val="0"/>
              </a:spcBef>
            </a:pPr>
            <a:r>
              <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RESULT</a:t>
            </a:r>
            <a:endPar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2" name="TextBox 12"/>
          <p:cNvSpPr txBox="1"/>
          <p:nvPr/>
        </p:nvSpPr>
        <p:spPr>
          <a:xfrm>
            <a:off x="1346200" y="5117465"/>
            <a:ext cx="7725410" cy="3912235"/>
          </a:xfrm>
          <a:prstGeom prst="rect">
            <a:avLst/>
          </a:prstGeom>
        </p:spPr>
        <p:txBody>
          <a:bodyPr lIns="0" tIns="0" rIns="0" bIns="0" rtlCol="0" anchor="t">
            <a:noAutofit/>
          </a:bodyPr>
          <a:lstStyle/>
          <a:p>
            <a:pPr marL="786130" lvl="1" indent="-393065" algn="just">
              <a:lnSpc>
                <a:spcPts val="5095"/>
              </a:lnSpc>
              <a:buFont typeface="Arial" panose="020B0604020202020204"/>
              <a:buChar char="•"/>
            </a:pPr>
            <a:r>
              <a:rPr lang="en-US" altLang="en-US" sz="3640" b="1">
                <a:solidFill>
                  <a:srgbClr val="000000"/>
                </a:solidFill>
                <a:latin typeface="Rasputin"/>
                <a:ea typeface="Rasputin"/>
                <a:cs typeface="Rasputin"/>
                <a:sym typeface="Rasputin"/>
              </a:rPr>
              <a:t>Emergency Response</a:t>
            </a:r>
            <a:r>
              <a:rPr lang="en-US" altLang="en-US" sz="3640">
                <a:solidFill>
                  <a:srgbClr val="000000"/>
                </a:solidFill>
                <a:latin typeface="Rasputin"/>
                <a:ea typeface="Rasputin"/>
                <a:cs typeface="Rasputin"/>
                <a:sym typeface="Rasputin"/>
              </a:rPr>
              <a:t>, to provide quick access to police, ambulance, and other emergency services.</a:t>
            </a:r>
            <a:endParaRPr lang="en-US" altLang="en-US" sz="3640">
              <a:solidFill>
                <a:srgbClr val="000000"/>
              </a:solidFill>
              <a:latin typeface="Rasputin"/>
              <a:ea typeface="Rasputin"/>
              <a:cs typeface="Rasputin"/>
              <a:sym typeface="Rasputin"/>
            </a:endParaRPr>
          </a:p>
          <a:p>
            <a:pPr marL="786130" lvl="1" indent="-393065" algn="just">
              <a:lnSpc>
                <a:spcPts val="5095"/>
              </a:lnSpc>
              <a:buFont typeface="Arial" panose="020B0604020202020204"/>
              <a:buChar char="•"/>
            </a:pPr>
            <a:r>
              <a:rPr lang="en-US" altLang="en-US" sz="3640" b="1">
                <a:solidFill>
                  <a:srgbClr val="000000"/>
                </a:solidFill>
                <a:latin typeface="Rasputin"/>
                <a:ea typeface="Rasputin"/>
                <a:cs typeface="Rasputin"/>
                <a:sym typeface="Rasputin"/>
              </a:rPr>
              <a:t>Safe Navigation</a:t>
            </a:r>
            <a:r>
              <a:rPr lang="en-US" altLang="en-US" sz="3640">
                <a:solidFill>
                  <a:srgbClr val="000000"/>
                </a:solidFill>
                <a:latin typeface="Rasputin"/>
                <a:ea typeface="Rasputin"/>
                <a:cs typeface="Rasputin"/>
                <a:sym typeface="Rasputin"/>
              </a:rPr>
              <a:t>,</a:t>
            </a:r>
            <a:r>
              <a:rPr lang="en-US" altLang="en-US" sz="3640" b="1">
                <a:solidFill>
                  <a:srgbClr val="000000"/>
                </a:solidFill>
                <a:latin typeface="Rasputin"/>
                <a:ea typeface="Rasputin"/>
                <a:cs typeface="Rasputin"/>
                <a:sym typeface="Rasputin"/>
              </a:rPr>
              <a:t> </a:t>
            </a:r>
            <a:r>
              <a:rPr lang="en-US" altLang="en-US" sz="3640">
                <a:solidFill>
                  <a:srgbClr val="000000"/>
                </a:solidFill>
                <a:latin typeface="Rasputin"/>
                <a:ea typeface="Rasputin"/>
                <a:cs typeface="Rasputin"/>
                <a:sym typeface="Rasputin"/>
              </a:rPr>
              <a:t>to suggest safer routes based on crime levels and recent incidents.</a:t>
            </a:r>
            <a:endParaRPr lang="en-US" altLang="en-US" sz="3640">
              <a:solidFill>
                <a:srgbClr val="000000"/>
              </a:solidFill>
              <a:latin typeface="Rasputin"/>
              <a:ea typeface="Rasputin"/>
              <a:cs typeface="Rasputin"/>
              <a:sym typeface="Rasputin"/>
            </a:endParaRPr>
          </a:p>
        </p:txBody>
      </p:sp>
      <p:sp>
        <p:nvSpPr>
          <p:cNvPr id="14" name="TextBox 12"/>
          <p:cNvSpPr txBox="1"/>
          <p:nvPr/>
        </p:nvSpPr>
        <p:spPr>
          <a:xfrm>
            <a:off x="9372600" y="5227955"/>
            <a:ext cx="7725410" cy="3912235"/>
          </a:xfrm>
          <a:prstGeom prst="rect">
            <a:avLst/>
          </a:prstGeom>
        </p:spPr>
        <p:txBody>
          <a:bodyPr lIns="0" tIns="0" rIns="0" bIns="0" rtlCol="0" anchor="t">
            <a:noAutofit/>
          </a:bodyPr>
          <a:lstStyle/>
          <a:p>
            <a:pPr marL="786130" lvl="1" indent="-393065" algn="just">
              <a:lnSpc>
                <a:spcPts val="5095"/>
              </a:lnSpc>
              <a:buFont typeface="Arial" panose="020B0604020202020204"/>
              <a:buChar char="•"/>
            </a:pPr>
            <a:r>
              <a:rPr lang="en-US" altLang="en-US" sz="3640" b="1">
                <a:solidFill>
                  <a:srgbClr val="000000"/>
                </a:solidFill>
                <a:latin typeface="Rasputin"/>
                <a:ea typeface="Rasputin"/>
                <a:cs typeface="Rasputin"/>
                <a:sym typeface="Rasputin"/>
              </a:rPr>
              <a:t>Crime Map</a:t>
            </a:r>
            <a:r>
              <a:rPr lang="en-US" altLang="en-US" sz="3640">
                <a:solidFill>
                  <a:srgbClr val="000000"/>
                </a:solidFill>
                <a:latin typeface="Rasputin"/>
                <a:ea typeface="Rasputin"/>
                <a:cs typeface="Rasputin"/>
                <a:sym typeface="Rasputin"/>
              </a:rPr>
              <a:t>,</a:t>
            </a:r>
            <a:r>
              <a:rPr lang="en-US" altLang="en-US" sz="3640" b="1">
                <a:solidFill>
                  <a:srgbClr val="000000"/>
                </a:solidFill>
                <a:latin typeface="Rasputin"/>
                <a:ea typeface="Rasputin"/>
                <a:cs typeface="Rasputin"/>
                <a:sym typeface="Rasputin"/>
              </a:rPr>
              <a:t> </a:t>
            </a:r>
            <a:r>
              <a:rPr lang="en-US" altLang="en-US" sz="3640">
                <a:solidFill>
                  <a:srgbClr val="000000"/>
                </a:solidFill>
                <a:latin typeface="Rasputin"/>
                <a:ea typeface="Rasputin"/>
                <a:cs typeface="Rasputin"/>
                <a:sym typeface="Rasputin"/>
              </a:rPr>
              <a:t>to</a:t>
            </a:r>
            <a:r>
              <a:rPr lang="en-US" altLang="en-US" sz="3640">
                <a:solidFill>
                  <a:srgbClr val="000000"/>
                </a:solidFill>
                <a:latin typeface="Rasputin"/>
                <a:ea typeface="Rasputin"/>
                <a:cs typeface="Rasputin"/>
                <a:sym typeface="Rasputin"/>
              </a:rPr>
              <a:t> view crime levels and types of incidents by streets and districts.</a:t>
            </a:r>
            <a:endParaRPr lang="en-US" altLang="en-US" sz="3640">
              <a:solidFill>
                <a:srgbClr val="000000"/>
              </a:solidFill>
              <a:latin typeface="Rasputin"/>
              <a:ea typeface="Rasputin"/>
              <a:cs typeface="Rasputin"/>
              <a:sym typeface="Rasputin"/>
            </a:endParaRPr>
          </a:p>
          <a:p>
            <a:pPr marL="786130" lvl="1" indent="-393065" algn="just">
              <a:lnSpc>
                <a:spcPts val="5095"/>
              </a:lnSpc>
              <a:buFont typeface="Arial" panose="020B0604020202020204"/>
              <a:buChar char="•"/>
            </a:pPr>
            <a:r>
              <a:rPr lang="en-US" altLang="en-US" sz="3640" b="1">
                <a:solidFill>
                  <a:srgbClr val="000000"/>
                </a:solidFill>
                <a:latin typeface="Rasputin"/>
                <a:ea typeface="Rasputin"/>
                <a:cs typeface="Rasputin"/>
                <a:sym typeface="Rasputin"/>
              </a:rPr>
              <a:t>Citizen Reporting</a:t>
            </a:r>
            <a:r>
              <a:rPr lang="en-US" altLang="en-US" sz="3640">
                <a:solidFill>
                  <a:srgbClr val="000000"/>
                </a:solidFill>
                <a:latin typeface="Rasputin"/>
                <a:ea typeface="Rasputin"/>
                <a:cs typeface="Rasputin"/>
                <a:sym typeface="Rasputin"/>
              </a:rPr>
              <a:t>,</a:t>
            </a:r>
            <a:r>
              <a:rPr lang="en-US" altLang="en-US" sz="3640" b="1">
                <a:solidFill>
                  <a:srgbClr val="000000"/>
                </a:solidFill>
                <a:latin typeface="Rasputin"/>
                <a:ea typeface="Rasputin"/>
                <a:cs typeface="Rasputin"/>
                <a:sym typeface="Rasputin"/>
              </a:rPr>
              <a:t> </a:t>
            </a:r>
            <a:r>
              <a:rPr lang="en-US" altLang="en-US" sz="3640">
                <a:solidFill>
                  <a:srgbClr val="000000"/>
                </a:solidFill>
                <a:latin typeface="Rasputin"/>
                <a:ea typeface="Rasputin"/>
                <a:cs typeface="Rasputin"/>
                <a:sym typeface="Rasputin"/>
              </a:rPr>
              <a:t>to</a:t>
            </a:r>
            <a:r>
              <a:rPr lang="en-US" altLang="en-US" sz="3640">
                <a:solidFill>
                  <a:srgbClr val="000000"/>
                </a:solidFill>
                <a:latin typeface="Rasputin"/>
                <a:ea typeface="Rasputin"/>
                <a:cs typeface="Rasputin"/>
                <a:sym typeface="Rasputin"/>
              </a:rPr>
              <a:t> allow residents to report incidents and document them with photos, videos, or descriptions.</a:t>
            </a:r>
            <a:endParaRPr lang="en-US" altLang="en-US" sz="3640">
              <a:solidFill>
                <a:srgbClr val="000000"/>
              </a:solidFill>
              <a:latin typeface="Rasputin"/>
              <a:ea typeface="Rasputin"/>
              <a:cs typeface="Rasputin"/>
              <a:sym typeface="Rasputi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5400000">
            <a:off x="-336015" y="-901753"/>
            <a:ext cx="3749134" cy="1803506"/>
            <a:chOff x="0" y="0"/>
            <a:chExt cx="592941" cy="285216"/>
          </a:xfrm>
        </p:grpSpPr>
        <p:sp>
          <p:nvSpPr>
            <p:cNvPr id="4" name="Freeform 4"/>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5" name="TextBox 5"/>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6" name="Freeform 6"/>
          <p:cNvSpPr/>
          <p:nvPr/>
        </p:nvSpPr>
        <p:spPr>
          <a:xfrm rot="-6703529">
            <a:off x="-1240473" y="6429293"/>
            <a:ext cx="5558051" cy="4114800"/>
          </a:xfrm>
          <a:custGeom>
            <a:avLst/>
            <a:gdLst/>
            <a:ahLst/>
            <a:cxnLst/>
            <a:rect l="l" t="t" r="r" b="b"/>
            <a:pathLst>
              <a:path w="5558051" h="4114800">
                <a:moveTo>
                  <a:pt x="0" y="0"/>
                </a:moveTo>
                <a:lnTo>
                  <a:pt x="5558051" y="0"/>
                </a:lnTo>
                <a:lnTo>
                  <a:pt x="555805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587" y="7698552"/>
            <a:ext cx="1536965" cy="2588448"/>
          </a:xfrm>
          <a:custGeom>
            <a:avLst/>
            <a:gdLst/>
            <a:ahLst/>
            <a:cxnLst/>
            <a:rect l="l" t="t" r="r" b="b"/>
            <a:pathLst>
              <a:path w="1536965" h="2588448">
                <a:moveTo>
                  <a:pt x="0" y="0"/>
                </a:moveTo>
                <a:lnTo>
                  <a:pt x="1536965" y="0"/>
                </a:lnTo>
                <a:lnTo>
                  <a:pt x="1536965" y="2588448"/>
                </a:lnTo>
                <a:lnTo>
                  <a:pt x="0" y="258844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4875411" y="1233169"/>
            <a:ext cx="8537178" cy="1404629"/>
          </a:xfrm>
          <a:prstGeom prst="rect">
            <a:avLst/>
          </a:prstGeom>
        </p:spPr>
        <p:txBody>
          <a:bodyPr lIns="0" tIns="0" rIns="0" bIns="0" rtlCol="0" anchor="t">
            <a:spAutoFit/>
          </a:bodyPr>
          <a:lstStyle/>
          <a:p>
            <a:pPr marL="0" lvl="0" indent="0" algn="ctr">
              <a:lnSpc>
                <a:spcPts val="11470"/>
              </a:lnSpc>
              <a:spcBef>
                <a:spcPct val="0"/>
              </a:spcBef>
            </a:pPr>
            <a:r>
              <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rPr>
              <a:t>CONCLUSION</a:t>
            </a:r>
            <a:endParaRPr lang="en-US" sz="8190" u="none" strike="noStrike">
              <a:solidFill>
                <a:srgbClr val="00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9" name="Freeform 9"/>
          <p:cNvSpPr/>
          <p:nvPr/>
        </p:nvSpPr>
        <p:spPr>
          <a:xfrm rot="-4484235" flipH="1">
            <a:off x="12817510" y="-559644"/>
            <a:ext cx="7585042" cy="6394883"/>
          </a:xfrm>
          <a:custGeom>
            <a:avLst/>
            <a:gdLst/>
            <a:ahLst/>
            <a:cxnLst/>
            <a:rect l="l" t="t" r="r" b="b"/>
            <a:pathLst>
              <a:path w="7585042" h="6394883">
                <a:moveTo>
                  <a:pt x="7585041" y="0"/>
                </a:moveTo>
                <a:lnTo>
                  <a:pt x="0" y="0"/>
                </a:lnTo>
                <a:lnTo>
                  <a:pt x="0" y="6394883"/>
                </a:lnTo>
                <a:lnTo>
                  <a:pt x="7585041" y="6394883"/>
                </a:lnTo>
                <a:lnTo>
                  <a:pt x="7585041"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10" name="Picture 10"/>
          <p:cNvPicPr>
            <a:picLocks noChangeAspect="1"/>
          </p:cNvPicPr>
          <p:nvPr/>
        </p:nvPicPr>
        <p:blipFill>
          <a:blip r:embed="rId9"/>
          <a:srcRect/>
          <a:stretch>
            <a:fillRect/>
          </a:stretch>
        </p:blipFill>
        <p:spPr>
          <a:xfrm flipH="1">
            <a:off x="13182548" y="5905347"/>
            <a:ext cx="5395647" cy="4451409"/>
          </a:xfrm>
          <a:prstGeom prst="rect">
            <a:avLst/>
          </a:prstGeom>
        </p:spPr>
      </p:pic>
      <p:sp>
        <p:nvSpPr>
          <p:cNvPr id="11" name="TextBox 11"/>
          <p:cNvSpPr txBox="1"/>
          <p:nvPr/>
        </p:nvSpPr>
        <p:spPr>
          <a:xfrm>
            <a:off x="1213735" y="-171450"/>
            <a:ext cx="649635" cy="1566544"/>
          </a:xfrm>
          <a:prstGeom prst="rect">
            <a:avLst/>
          </a:prstGeom>
        </p:spPr>
        <p:txBody>
          <a:bodyPr lIns="0" tIns="0" rIns="0" bIns="0" rtlCol="0" anchor="t">
            <a:spAutoFit/>
          </a:bodyPr>
          <a:lstStyle/>
          <a:p>
            <a:pPr algn="ctr">
              <a:lnSpc>
                <a:spcPts val="12880"/>
              </a:lnSpc>
            </a:pPr>
            <a:r>
              <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9</a:t>
            </a:r>
            <a:endParaRPr lang="en-US" sz="92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2" name="TextBox 12"/>
          <p:cNvSpPr txBox="1"/>
          <p:nvPr/>
        </p:nvSpPr>
        <p:spPr>
          <a:xfrm>
            <a:off x="1538605" y="3009900"/>
            <a:ext cx="11318875" cy="5880100"/>
          </a:xfrm>
          <a:prstGeom prst="rect">
            <a:avLst/>
          </a:prstGeom>
        </p:spPr>
        <p:txBody>
          <a:bodyPr wrap="square" lIns="0" tIns="0" rIns="0" bIns="0" rtlCol="0" anchor="t">
            <a:spAutoFit/>
          </a:bodyPr>
          <a:lstStyle/>
          <a:p>
            <a:pPr algn="ctr">
              <a:lnSpc>
                <a:spcPts val="5095"/>
              </a:lnSpc>
            </a:pPr>
            <a:r>
              <a:rPr lang="en-US" altLang="en-US" sz="3640">
                <a:solidFill>
                  <a:srgbClr val="000000"/>
                </a:solidFill>
                <a:latin typeface="Rasputin"/>
                <a:ea typeface="Rasputin"/>
                <a:cs typeface="Rasputin"/>
                <a:sym typeface="Rasputin"/>
              </a:rPr>
              <a:t>Our project aims to create a single, accessible safety platform for Kazakhstan. It can help people stay informed about their surroundings, make safer decisions, and respond more effectively to dangerous situations.</a:t>
            </a:r>
            <a:endParaRPr lang="en-US" altLang="en-US" sz="3640">
              <a:solidFill>
                <a:srgbClr val="000000"/>
              </a:solidFill>
              <a:latin typeface="Rasputin"/>
              <a:ea typeface="Rasputin"/>
              <a:cs typeface="Rasputin"/>
              <a:sym typeface="Rasputin"/>
            </a:endParaRPr>
          </a:p>
          <a:p>
            <a:pPr algn="ctr">
              <a:lnSpc>
                <a:spcPts val="5095"/>
              </a:lnSpc>
            </a:pPr>
            <a:endParaRPr lang="en-US" altLang="en-US" sz="3640">
              <a:solidFill>
                <a:srgbClr val="000000"/>
              </a:solidFill>
              <a:latin typeface="Rasputin"/>
              <a:ea typeface="Rasputin"/>
              <a:cs typeface="Rasputin"/>
              <a:sym typeface="Rasputin"/>
            </a:endParaRPr>
          </a:p>
          <a:p>
            <a:pPr algn="ctr">
              <a:lnSpc>
                <a:spcPts val="5095"/>
              </a:lnSpc>
            </a:pPr>
            <a:r>
              <a:rPr lang="en-US" altLang="en-US" sz="3640">
                <a:solidFill>
                  <a:srgbClr val="000000"/>
                </a:solidFill>
                <a:latin typeface="Rasputin"/>
                <a:ea typeface="Rasputin"/>
                <a:cs typeface="Rasputin"/>
                <a:sym typeface="Rasputin"/>
              </a:rPr>
              <a:t>By bringing these needs together in one place, we can make everyday life safer, more connected, and more secure for citizens.</a:t>
            </a:r>
            <a:endParaRPr lang="en-US" altLang="en-US" sz="3640">
              <a:solidFill>
                <a:srgbClr val="000000"/>
              </a:solidFill>
              <a:latin typeface="Rasputin"/>
              <a:ea typeface="Rasputin"/>
              <a:cs typeface="Rasputin"/>
              <a:sym typeface="Rasputi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8288000"/>
          </a:xfrm>
          <a:custGeom>
            <a:avLst/>
            <a:gdLst/>
            <a:ahLst/>
            <a:cxnLst/>
            <a:rect l="l" t="t" r="r" b="b"/>
            <a:pathLst>
              <a:path w="18288000" h="18288000">
                <a:moveTo>
                  <a:pt x="0" y="0"/>
                </a:moveTo>
                <a:lnTo>
                  <a:pt x="18288000" y="0"/>
                </a:lnTo>
                <a:lnTo>
                  <a:pt x="18288000" y="18288000"/>
                </a:lnTo>
                <a:lnTo>
                  <a:pt x="0" y="18288000"/>
                </a:lnTo>
                <a:lnTo>
                  <a:pt x="0" y="0"/>
                </a:lnTo>
                <a:close/>
              </a:path>
            </a:pathLst>
          </a:custGeom>
          <a:blipFill>
            <a:blip r:embed="rId1">
              <a:alphaModFix amt="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3746850" y="7086600"/>
            <a:ext cx="5558051" cy="4114800"/>
          </a:xfrm>
          <a:custGeom>
            <a:avLst/>
            <a:gdLst/>
            <a:ahLst/>
            <a:cxnLst/>
            <a:rect l="l" t="t" r="r" b="b"/>
            <a:pathLst>
              <a:path w="5558051" h="4114800">
                <a:moveTo>
                  <a:pt x="0" y="0"/>
                </a:moveTo>
                <a:lnTo>
                  <a:pt x="5558051" y="0"/>
                </a:lnTo>
                <a:lnTo>
                  <a:pt x="555805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515744" y="5143500"/>
            <a:ext cx="6604423" cy="5568132"/>
          </a:xfrm>
          <a:custGeom>
            <a:avLst/>
            <a:gdLst/>
            <a:ahLst/>
            <a:cxnLst/>
            <a:rect l="l" t="t" r="r" b="b"/>
            <a:pathLst>
              <a:path w="6604423" h="5568132">
                <a:moveTo>
                  <a:pt x="0" y="0"/>
                </a:moveTo>
                <a:lnTo>
                  <a:pt x="6604424" y="0"/>
                </a:lnTo>
                <a:lnTo>
                  <a:pt x="6604424" y="5568132"/>
                </a:lnTo>
                <a:lnTo>
                  <a:pt x="0" y="55681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480275" y="8589923"/>
            <a:ext cx="5558051" cy="4114800"/>
          </a:xfrm>
          <a:custGeom>
            <a:avLst/>
            <a:gdLst/>
            <a:ahLst/>
            <a:cxnLst/>
            <a:rect l="l" t="t" r="r" b="b"/>
            <a:pathLst>
              <a:path w="5558051" h="4114800">
                <a:moveTo>
                  <a:pt x="0" y="0"/>
                </a:moveTo>
                <a:lnTo>
                  <a:pt x="5558050" y="0"/>
                </a:lnTo>
                <a:lnTo>
                  <a:pt x="555805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6" name="Group 6"/>
          <p:cNvGrpSpPr/>
          <p:nvPr/>
        </p:nvGrpSpPr>
        <p:grpSpPr>
          <a:xfrm rot="-5400000">
            <a:off x="-336015" y="-901753"/>
            <a:ext cx="3749134" cy="1803506"/>
            <a:chOff x="0" y="0"/>
            <a:chExt cx="592941" cy="285216"/>
          </a:xfrm>
        </p:grpSpPr>
        <p:sp>
          <p:nvSpPr>
            <p:cNvPr id="7" name="Freeform 7"/>
            <p:cNvSpPr/>
            <p:nvPr/>
          </p:nvSpPr>
          <p:spPr>
            <a:xfrm>
              <a:off x="0" y="0"/>
              <a:ext cx="592941" cy="285216"/>
            </a:xfrm>
            <a:custGeom>
              <a:avLst/>
              <a:gdLst/>
              <a:ahLst/>
              <a:cxnLst/>
              <a:rect l="l" t="t" r="r" b="b"/>
              <a:pathLst>
                <a:path w="592941" h="285216">
                  <a:moveTo>
                    <a:pt x="592941" y="103249"/>
                  </a:moveTo>
                  <a:lnTo>
                    <a:pt x="592941" y="181966"/>
                  </a:lnTo>
                  <a:cubicBezTo>
                    <a:pt x="592941" y="238990"/>
                    <a:pt x="546714" y="285216"/>
                    <a:pt x="489691" y="285216"/>
                  </a:cubicBezTo>
                  <a:lnTo>
                    <a:pt x="103249" y="285216"/>
                  </a:lnTo>
                  <a:cubicBezTo>
                    <a:pt x="46226" y="285216"/>
                    <a:pt x="0" y="238990"/>
                    <a:pt x="0" y="181966"/>
                  </a:cubicBezTo>
                  <a:lnTo>
                    <a:pt x="0" y="103249"/>
                  </a:lnTo>
                  <a:cubicBezTo>
                    <a:pt x="0" y="46226"/>
                    <a:pt x="46226" y="0"/>
                    <a:pt x="103249" y="0"/>
                  </a:cubicBezTo>
                  <a:lnTo>
                    <a:pt x="489691" y="0"/>
                  </a:lnTo>
                  <a:cubicBezTo>
                    <a:pt x="546714" y="0"/>
                    <a:pt x="592941" y="46226"/>
                    <a:pt x="592941" y="103249"/>
                  </a:cubicBezTo>
                  <a:close/>
                </a:path>
              </a:pathLst>
            </a:custGeom>
            <a:ln w="238125" cap="rnd">
              <a:solidFill>
                <a:srgbClr val="B4B4B4"/>
              </a:solidFill>
              <a:prstDash val="solid"/>
              <a:round/>
            </a:ln>
          </p:spPr>
        </p:sp>
        <p:sp>
          <p:nvSpPr>
            <p:cNvPr id="8" name="TextBox 8"/>
            <p:cNvSpPr txBox="1"/>
            <p:nvPr/>
          </p:nvSpPr>
          <p:spPr>
            <a:xfrm>
              <a:off x="0" y="-38100"/>
              <a:ext cx="592941" cy="323316"/>
            </a:xfrm>
            <a:prstGeom prst="rect">
              <a:avLst/>
            </a:prstGeom>
          </p:spPr>
          <p:txBody>
            <a:bodyPr lIns="50800" tIns="50800" rIns="50800" bIns="50800" rtlCol="0" anchor="ctr"/>
            <a:lstStyle/>
            <a:p>
              <a:pPr algn="ctr">
                <a:lnSpc>
                  <a:spcPts val="2660"/>
                </a:lnSpc>
              </a:pPr>
            </a:p>
          </p:txBody>
        </p:sp>
      </p:grpSp>
      <p:sp>
        <p:nvSpPr>
          <p:cNvPr id="9" name="Freeform 9"/>
          <p:cNvSpPr/>
          <p:nvPr/>
        </p:nvSpPr>
        <p:spPr>
          <a:xfrm rot="-1613954" flipH="1">
            <a:off x="14091540" y="-1874203"/>
            <a:ext cx="4868670" cy="5805806"/>
          </a:xfrm>
          <a:custGeom>
            <a:avLst/>
            <a:gdLst/>
            <a:ahLst/>
            <a:cxnLst/>
            <a:rect l="l" t="t" r="r" b="b"/>
            <a:pathLst>
              <a:path w="4868670" h="5805806">
                <a:moveTo>
                  <a:pt x="4868670" y="0"/>
                </a:moveTo>
                <a:lnTo>
                  <a:pt x="0" y="0"/>
                </a:lnTo>
                <a:lnTo>
                  <a:pt x="0" y="5805806"/>
                </a:lnTo>
                <a:lnTo>
                  <a:pt x="4868670" y="5805806"/>
                </a:lnTo>
                <a:lnTo>
                  <a:pt x="486867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15662771" y="1395094"/>
            <a:ext cx="1524309" cy="2567134"/>
          </a:xfrm>
          <a:custGeom>
            <a:avLst/>
            <a:gdLst/>
            <a:ahLst/>
            <a:cxnLst/>
            <a:rect l="l" t="t" r="r" b="b"/>
            <a:pathLst>
              <a:path w="1524309" h="2567134">
                <a:moveTo>
                  <a:pt x="0" y="0"/>
                </a:moveTo>
                <a:lnTo>
                  <a:pt x="1524310" y="0"/>
                </a:lnTo>
                <a:lnTo>
                  <a:pt x="1524310" y="2567134"/>
                </a:lnTo>
                <a:lnTo>
                  <a:pt x="0" y="256713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1" name="TextBox 11"/>
          <p:cNvSpPr txBox="1"/>
          <p:nvPr/>
        </p:nvSpPr>
        <p:spPr>
          <a:xfrm>
            <a:off x="1538552" y="3376615"/>
            <a:ext cx="15229946" cy="3061965"/>
          </a:xfrm>
          <a:prstGeom prst="rect">
            <a:avLst/>
          </a:prstGeom>
        </p:spPr>
        <p:txBody>
          <a:bodyPr lIns="0" tIns="0" rIns="0" bIns="0" rtlCol="0" anchor="t">
            <a:spAutoFit/>
          </a:bodyPr>
          <a:lstStyle/>
          <a:p>
            <a:pPr algn="ctr">
              <a:lnSpc>
                <a:spcPts val="25000"/>
              </a:lnSpc>
            </a:pPr>
            <a:r>
              <a:rPr lang="en-US" sz="1786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THANK YOU</a:t>
            </a:r>
            <a:endParaRPr lang="en-US" sz="1786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
        <p:nvSpPr>
          <p:cNvPr id="12" name="TextBox 12"/>
          <p:cNvSpPr txBox="1"/>
          <p:nvPr/>
        </p:nvSpPr>
        <p:spPr>
          <a:xfrm>
            <a:off x="228600" y="-171450"/>
            <a:ext cx="2462530" cy="1651635"/>
          </a:xfrm>
          <a:prstGeom prst="rect">
            <a:avLst/>
          </a:prstGeom>
        </p:spPr>
        <p:txBody>
          <a:bodyPr wrap="square" lIns="0" tIns="0" rIns="0" bIns="0" rtlCol="0" anchor="t">
            <a:spAutoFit/>
          </a:bodyPr>
          <a:lstStyle/>
          <a:p>
            <a:pPr algn="ctr">
              <a:lnSpc>
                <a:spcPts val="12880"/>
              </a:lnSpc>
            </a:pPr>
            <a:r>
              <a:rPr lang="en-US" sz="80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rPr>
              <a:t>10</a:t>
            </a:r>
            <a:endParaRPr lang="en-US" sz="8000">
              <a:solidFill>
                <a:srgbClr val="9A0000"/>
              </a:solidFill>
              <a:latin typeface="The Youngest Serif" panose="00000500000000000000"/>
              <a:ea typeface="The Youngest Serif" panose="00000500000000000000"/>
              <a:cs typeface="The Youngest Serif" panose="00000500000000000000"/>
              <a:sym typeface="The Youngest Serif" panose="00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2764</Words>
  <Application>WPS Presentation</Application>
  <PresentationFormat>On-screen Show (4:3)</PresentationFormat>
  <Paragraphs>84</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The Youngest Serif</vt:lpstr>
      <vt:lpstr>Segoe Print</vt:lpstr>
      <vt:lpstr>Rasputin</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and Gray Simple Modern Presentation</dc:title>
  <dc:creator/>
  <cp:lastModifiedBy>Grabite Bank</cp:lastModifiedBy>
  <cp:revision>11</cp:revision>
  <dcterms:created xsi:type="dcterms:W3CDTF">2006-08-16T00:00:00Z</dcterms:created>
  <dcterms:modified xsi:type="dcterms:W3CDTF">2026-09-09T16:12:52Z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F8DD39D760154BBA9CF6BAA289E383DA_12</vt:lpwstr>
  </property>
  <property fmtid="{D5CDD505-2E9C-101B-9397-08002B2CF9AE}" pid="3" name="KSOProductBuildVer">
    <vt:lpwstr>1033-12.1.0.28485</vt:lpwstr>
  </property>
</Properties>
</file>